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handoutMasterIdLst>
    <p:handoutMasterId r:id="rId42"/>
  </p:handoutMasterIdLst>
  <p:sldIdLst>
    <p:sldId id="771" r:id="rId2"/>
    <p:sldId id="1736" r:id="rId3"/>
    <p:sldId id="1737" r:id="rId4"/>
    <p:sldId id="1738" r:id="rId5"/>
    <p:sldId id="1739" r:id="rId6"/>
    <p:sldId id="1740" r:id="rId7"/>
    <p:sldId id="1741" r:id="rId8"/>
    <p:sldId id="1734" r:id="rId9"/>
    <p:sldId id="1742" r:id="rId10"/>
    <p:sldId id="1732" r:id="rId11"/>
    <p:sldId id="1743" r:id="rId12"/>
    <p:sldId id="1744" r:id="rId13"/>
    <p:sldId id="1745" r:id="rId14"/>
    <p:sldId id="1747" r:id="rId15"/>
    <p:sldId id="1748" r:id="rId16"/>
    <p:sldId id="1749" r:id="rId17"/>
    <p:sldId id="1750" r:id="rId18"/>
    <p:sldId id="1733" r:id="rId19"/>
    <p:sldId id="1751" r:id="rId20"/>
    <p:sldId id="1752" r:id="rId21"/>
    <p:sldId id="1753" r:id="rId22"/>
    <p:sldId id="1763" r:id="rId23"/>
    <p:sldId id="1754" r:id="rId24"/>
    <p:sldId id="1764" r:id="rId25"/>
    <p:sldId id="1765" r:id="rId26"/>
    <p:sldId id="1766" r:id="rId27"/>
    <p:sldId id="1756" r:id="rId28"/>
    <p:sldId id="1757" r:id="rId29"/>
    <p:sldId id="1767" r:id="rId30"/>
    <p:sldId id="1768" r:id="rId31"/>
    <p:sldId id="1769" r:id="rId32"/>
    <p:sldId id="1759" r:id="rId33"/>
    <p:sldId id="1761" r:id="rId34"/>
    <p:sldId id="1760" r:id="rId35"/>
    <p:sldId id="1770" r:id="rId36"/>
    <p:sldId id="1762" r:id="rId37"/>
    <p:sldId id="1771" r:id="rId38"/>
    <p:sldId id="1755" r:id="rId39"/>
    <p:sldId id="1731" r:id="rId40"/>
  </p:sldIdLst>
  <p:sldSz cx="9144000" cy="6858000" type="screen4x3"/>
  <p:notesSz cx="10234613" cy="710406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3"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bg" initials="j" lastIdx="2" clrIdx="0">
    <p:extLst>
      <p:ext uri="{19B8F6BF-5375-455C-9EA6-DF929625EA0E}">
        <p15:presenceInfo xmlns:p15="http://schemas.microsoft.com/office/powerpoint/2012/main" userId="jbg" providerId="None"/>
      </p:ext>
    </p:extLst>
  </p:cmAuthor>
  <p:cmAuthor id="2" name="jbg@ajou.ac.kr" initials="j" lastIdx="1" clrIdx="1">
    <p:extLst>
      <p:ext uri="{19B8F6BF-5375-455C-9EA6-DF929625EA0E}">
        <p15:presenceInfo xmlns:p15="http://schemas.microsoft.com/office/powerpoint/2012/main" userId="jbg@ajou.ac.kr" providerId="None"/>
      </p:ext>
    </p:extLst>
  </p:cmAuthor>
  <p:cmAuthor id="3" name="조범근" initials="조" lastIdx="2" clrIdx="2">
    <p:extLst>
      <p:ext uri="{19B8F6BF-5375-455C-9EA6-DF929625EA0E}">
        <p15:presenceInfo xmlns:p15="http://schemas.microsoft.com/office/powerpoint/2012/main" userId="S::jbg@ajou.ac.kr::83e64821-7aac-4904-bef7-9ed140fe8705" providerId="AD"/>
      </p:ext>
    </p:extLst>
  </p:cmAuthor>
  <p:cmAuthor id="4" name="Cho BeomGeun" initials="CB" lastIdx="1" clrIdx="3">
    <p:extLst>
      <p:ext uri="{19B8F6BF-5375-455C-9EA6-DF929625EA0E}">
        <p15:presenceInfo xmlns:p15="http://schemas.microsoft.com/office/powerpoint/2012/main" userId="96cf01b335cf8ff2" providerId="Windows Live"/>
      </p:ext>
    </p:extLst>
  </p:cmAuthor>
  <p:cmAuthor id="5" name="구 형일" initials="구형" lastIdx="1" clrIdx="4">
    <p:extLst>
      <p:ext uri="{19B8F6BF-5375-455C-9EA6-DF929625EA0E}">
        <p15:presenceInfo xmlns:p15="http://schemas.microsoft.com/office/powerpoint/2012/main" userId="8dff1e8e1d8e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3193"/>
    <a:srgbClr val="93A299"/>
    <a:srgbClr val="F8F9FB"/>
    <a:srgbClr val="EFEDE1"/>
    <a:srgbClr val="2F3192"/>
    <a:srgbClr val="0F7ABE"/>
    <a:srgbClr val="1CBD17"/>
    <a:srgbClr val="E3F30D"/>
    <a:srgbClr val="BCEFBB"/>
    <a:srgbClr val="FB045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보통 스타일 2 - 강조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21" autoAdjust="0"/>
    <p:restoredTop sz="83767" autoAdjust="0"/>
  </p:normalViewPr>
  <p:slideViewPr>
    <p:cSldViewPr snapToGrid="0">
      <p:cViewPr varScale="1">
        <p:scale>
          <a:sx n="105" d="100"/>
          <a:sy n="105" d="100"/>
        </p:scale>
        <p:origin x="2560" y="192"/>
      </p:cViewPr>
      <p:guideLst>
        <p:guide orient="horz" pos="2273"/>
        <p:guide pos="2880"/>
      </p:guideLst>
    </p:cSldViewPr>
  </p:slideViewPr>
  <p:outlineViewPr>
    <p:cViewPr>
      <p:scale>
        <a:sx n="33" d="100"/>
        <a:sy n="33" d="100"/>
      </p:scale>
      <p:origin x="0" y="-4554"/>
    </p:cViewPr>
  </p:outlineViewPr>
  <p:notesTextViewPr>
    <p:cViewPr>
      <p:scale>
        <a:sx n="3" d="2"/>
        <a:sy n="3" d="2"/>
      </p:scale>
      <p:origin x="0" y="0"/>
    </p:cViewPr>
  </p:notesTextViewPr>
  <p:notesViewPr>
    <p:cSldViewPr snapToGrid="0">
      <p:cViewPr varScale="1">
        <p:scale>
          <a:sx n="108" d="100"/>
          <a:sy n="108" d="100"/>
        </p:scale>
        <p:origin x="7872"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6F77D399-F581-AE09-7607-F539ED6AEA20}"/>
              </a:ext>
            </a:extLst>
          </p:cNvPr>
          <p:cNvSpPr>
            <a:spLocks noGrp="1"/>
          </p:cNvSpPr>
          <p:nvPr>
            <p:ph type="hdr" sz="quarter"/>
          </p:nvPr>
        </p:nvSpPr>
        <p:spPr>
          <a:xfrm>
            <a:off x="1" y="0"/>
            <a:ext cx="4434618" cy="35592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FD38F8C5-0EEF-A353-567F-BB70AC810DFC}"/>
              </a:ext>
            </a:extLst>
          </p:cNvPr>
          <p:cNvSpPr>
            <a:spLocks noGrp="1"/>
          </p:cNvSpPr>
          <p:nvPr>
            <p:ph type="dt" sz="quarter" idx="1"/>
          </p:nvPr>
        </p:nvSpPr>
        <p:spPr>
          <a:xfrm>
            <a:off x="5797708" y="0"/>
            <a:ext cx="4434617" cy="355920"/>
          </a:xfrm>
          <a:prstGeom prst="rect">
            <a:avLst/>
          </a:prstGeom>
        </p:spPr>
        <p:txBody>
          <a:bodyPr vert="horz" lIns="91440" tIns="45720" rIns="91440" bIns="45720" rtlCol="0"/>
          <a:lstStyle>
            <a:lvl1pPr algn="r">
              <a:defRPr sz="1200"/>
            </a:lvl1pPr>
          </a:lstStyle>
          <a:p>
            <a:fld id="{E9F8F204-4600-4A6B-97DB-34A4AAD333F3}" type="datetimeFigureOut">
              <a:rPr lang="ko-KR" altLang="en-US" smtClean="0"/>
              <a:t>2026. 7. 2.</a:t>
            </a:fld>
            <a:endParaRPr lang="ko-KR" altLang="en-US"/>
          </a:p>
        </p:txBody>
      </p:sp>
      <p:sp>
        <p:nvSpPr>
          <p:cNvPr id="4" name="바닥글 개체 틀 3">
            <a:extLst>
              <a:ext uri="{FF2B5EF4-FFF2-40B4-BE49-F238E27FC236}">
                <a16:creationId xmlns:a16="http://schemas.microsoft.com/office/drawing/2014/main" id="{6EE0C283-2353-16D1-BD3E-AEACEE735E07}"/>
              </a:ext>
            </a:extLst>
          </p:cNvPr>
          <p:cNvSpPr>
            <a:spLocks noGrp="1"/>
          </p:cNvSpPr>
          <p:nvPr>
            <p:ph type="ftr" sz="quarter" idx="2"/>
          </p:nvPr>
        </p:nvSpPr>
        <p:spPr>
          <a:xfrm>
            <a:off x="1" y="6748143"/>
            <a:ext cx="4434618" cy="35592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D00AF2CD-522C-42A6-54C0-2DA8487A53D3}"/>
              </a:ext>
            </a:extLst>
          </p:cNvPr>
          <p:cNvSpPr>
            <a:spLocks noGrp="1"/>
          </p:cNvSpPr>
          <p:nvPr>
            <p:ph type="sldNum" sz="quarter" idx="3"/>
          </p:nvPr>
        </p:nvSpPr>
        <p:spPr>
          <a:xfrm>
            <a:off x="5797708" y="6748143"/>
            <a:ext cx="4434617" cy="355920"/>
          </a:xfrm>
          <a:prstGeom prst="rect">
            <a:avLst/>
          </a:prstGeom>
        </p:spPr>
        <p:txBody>
          <a:bodyPr vert="horz" lIns="91440" tIns="45720" rIns="91440" bIns="45720" rtlCol="0" anchor="b"/>
          <a:lstStyle>
            <a:lvl1pPr algn="r">
              <a:defRPr sz="1200"/>
            </a:lvl1pPr>
          </a:lstStyle>
          <a:p>
            <a:fld id="{901E39D9-7B24-4147-BBDB-C972919DD070}" type="slidenum">
              <a:rPr lang="ko-KR" altLang="en-US" smtClean="0"/>
              <a:t>‹#›</a:t>
            </a:fld>
            <a:endParaRPr lang="ko-KR" altLang="en-US"/>
          </a:p>
        </p:txBody>
      </p:sp>
    </p:spTree>
    <p:extLst>
      <p:ext uri="{BB962C8B-B14F-4D97-AF65-F5344CB8AC3E}">
        <p14:creationId xmlns:p14="http://schemas.microsoft.com/office/powerpoint/2010/main" val="3693001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날짜 개체 틀 2"/>
          <p:cNvSpPr>
            <a:spLocks noGrp="1"/>
          </p:cNvSpPr>
          <p:nvPr>
            <p:ph type="dt" idx="1"/>
          </p:nvPr>
        </p:nvSpPr>
        <p:spPr>
          <a:xfrm>
            <a:off x="5797246" y="0"/>
            <a:ext cx="4434999" cy="356437"/>
          </a:xfrm>
          <a:prstGeom prst="rect">
            <a:avLst/>
          </a:prstGeom>
        </p:spPr>
        <p:txBody>
          <a:bodyPr vert="horz" lIns="99075" tIns="49538" rIns="99075" bIns="49538" rtlCol="0"/>
          <a:lstStyle>
            <a:lvl1pPr algn="r">
              <a:defRPr sz="1300">
                <a:latin typeface="Adobe 명조 Std M" panose="02020600000000000000" pitchFamily="18" charset="-127"/>
                <a:ea typeface="Adobe 명조 Std M" panose="02020600000000000000" pitchFamily="18" charset="-127"/>
              </a:defRPr>
            </a:lvl1pPr>
          </a:lstStyle>
          <a:p>
            <a:fld id="{C0C0EA76-9FA6-4604-A1F6-21823A11FFF7}" type="datetimeFigureOut">
              <a:rPr lang="ko-KR" altLang="en-US" smtClean="0"/>
              <a:pPr/>
              <a:t>2026. 7. 2.</a:t>
            </a:fld>
            <a:endParaRPr lang="ko-KR" altLang="en-US" dirty="0"/>
          </a:p>
        </p:txBody>
      </p:sp>
      <p:sp>
        <p:nvSpPr>
          <p:cNvPr id="5" name="슬라이드 노트 개체 틀 4"/>
          <p:cNvSpPr>
            <a:spLocks noGrp="1"/>
          </p:cNvSpPr>
          <p:nvPr>
            <p:ph type="body" sz="quarter" idx="3"/>
          </p:nvPr>
        </p:nvSpPr>
        <p:spPr>
          <a:xfrm>
            <a:off x="1023462" y="3418830"/>
            <a:ext cx="8187690" cy="2797225"/>
          </a:xfrm>
          <a:prstGeom prst="rect">
            <a:avLst/>
          </a:prstGeom>
        </p:spPr>
        <p:txBody>
          <a:bodyPr vert="horz" lIns="99075" tIns="49538" rIns="99075" bIns="49538"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7" name="슬라이드 번호 개체 틀 6"/>
          <p:cNvSpPr>
            <a:spLocks noGrp="1"/>
          </p:cNvSpPr>
          <p:nvPr>
            <p:ph type="sldNum" sz="quarter" idx="5"/>
          </p:nvPr>
        </p:nvSpPr>
        <p:spPr>
          <a:xfrm>
            <a:off x="5797246" y="6747628"/>
            <a:ext cx="4434999" cy="356436"/>
          </a:xfrm>
          <a:prstGeom prst="rect">
            <a:avLst/>
          </a:prstGeom>
        </p:spPr>
        <p:txBody>
          <a:bodyPr vert="horz" lIns="99075" tIns="49538" rIns="99075" bIns="49538" rtlCol="0" anchor="b"/>
          <a:lstStyle>
            <a:lvl1pPr algn="r">
              <a:defRPr sz="1300">
                <a:latin typeface="Adobe 명조 Std M" panose="02020600000000000000" pitchFamily="18" charset="-127"/>
                <a:ea typeface="Adobe 명조 Std M" panose="02020600000000000000" pitchFamily="18" charset="-127"/>
              </a:defRPr>
            </a:lvl1pPr>
          </a:lstStyle>
          <a:p>
            <a:fld id="{ED89AFEE-EDE5-467A-9C27-D4B856404C34}" type="slidenum">
              <a:rPr lang="ko-KR" altLang="en-US" smtClean="0"/>
              <a:pPr/>
              <a:t>‹#›</a:t>
            </a:fld>
            <a:endParaRPr lang="ko-KR" altLang="en-US" dirty="0"/>
          </a:p>
        </p:txBody>
      </p:sp>
      <p:sp>
        <p:nvSpPr>
          <p:cNvPr id="8" name="머리글 개체 틀 7">
            <a:extLst>
              <a:ext uri="{FF2B5EF4-FFF2-40B4-BE49-F238E27FC236}">
                <a16:creationId xmlns:a16="http://schemas.microsoft.com/office/drawing/2014/main" id="{7E95682B-553D-7334-769C-46BFEC1B4A29}"/>
              </a:ext>
            </a:extLst>
          </p:cNvPr>
          <p:cNvSpPr>
            <a:spLocks noGrp="1"/>
          </p:cNvSpPr>
          <p:nvPr>
            <p:ph type="hdr" sz="quarter"/>
          </p:nvPr>
        </p:nvSpPr>
        <p:spPr>
          <a:xfrm>
            <a:off x="1" y="0"/>
            <a:ext cx="4434618" cy="355920"/>
          </a:xfrm>
          <a:prstGeom prst="rect">
            <a:avLst/>
          </a:prstGeom>
        </p:spPr>
        <p:txBody>
          <a:bodyPr vert="horz" lIns="91440" tIns="45720" rIns="91440" bIns="45720" rtlCol="0"/>
          <a:lstStyle>
            <a:lvl1pPr algn="l">
              <a:defRPr sz="1200"/>
            </a:lvl1pPr>
          </a:lstStyle>
          <a:p>
            <a:endParaRPr lang="ko-KR" altLang="en-US"/>
          </a:p>
        </p:txBody>
      </p:sp>
      <p:sp>
        <p:nvSpPr>
          <p:cNvPr id="9" name="슬라이드 이미지 개체 틀 8">
            <a:extLst>
              <a:ext uri="{FF2B5EF4-FFF2-40B4-BE49-F238E27FC236}">
                <a16:creationId xmlns:a16="http://schemas.microsoft.com/office/drawing/2014/main" id="{2EAD35D3-C545-D522-6DA8-7D1F38E3D4F7}"/>
              </a:ext>
            </a:extLst>
          </p:cNvPr>
          <p:cNvSpPr>
            <a:spLocks noGrp="1" noRot="1" noChangeAspect="1"/>
          </p:cNvSpPr>
          <p:nvPr>
            <p:ph type="sldImg" idx="2"/>
          </p:nvPr>
        </p:nvSpPr>
        <p:spPr>
          <a:xfrm>
            <a:off x="3519488" y="887413"/>
            <a:ext cx="3198812" cy="2398712"/>
          </a:xfrm>
          <a:prstGeom prst="rect">
            <a:avLst/>
          </a:prstGeom>
          <a:noFill/>
          <a:ln w="12700">
            <a:solidFill>
              <a:prstClr val="black"/>
            </a:solidFill>
          </a:ln>
        </p:spPr>
        <p:txBody>
          <a:bodyPr vert="horz" lIns="91440" tIns="45720" rIns="91440" bIns="45720" rtlCol="0" anchor="ctr"/>
          <a:lstStyle/>
          <a:p>
            <a:endParaRPr lang="ko-KR" altLang="en-US"/>
          </a:p>
        </p:txBody>
      </p:sp>
      <p:sp>
        <p:nvSpPr>
          <p:cNvPr id="10" name="바닥글 개체 틀 9">
            <a:extLst>
              <a:ext uri="{FF2B5EF4-FFF2-40B4-BE49-F238E27FC236}">
                <a16:creationId xmlns:a16="http://schemas.microsoft.com/office/drawing/2014/main" id="{9D1BDCAD-651A-1AD9-6407-6EFC073A7545}"/>
              </a:ext>
            </a:extLst>
          </p:cNvPr>
          <p:cNvSpPr>
            <a:spLocks noGrp="1"/>
          </p:cNvSpPr>
          <p:nvPr>
            <p:ph type="ftr" sz="quarter" idx="4"/>
          </p:nvPr>
        </p:nvSpPr>
        <p:spPr>
          <a:xfrm>
            <a:off x="1" y="6748143"/>
            <a:ext cx="4434618" cy="355920"/>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40415622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Adobe 명조 Std M" panose="02020600000000000000" pitchFamily="18" charset="-127"/>
        <a:ea typeface="Adobe 명조 Std M" panose="02020600000000000000" pitchFamily="18" charset="-127"/>
        <a:cs typeface="+mn-cs"/>
      </a:defRPr>
    </a:lvl1pPr>
    <a:lvl2pPr marL="457200" algn="l" defTabSz="914400" rtl="0" eaLnBrk="1" latinLnBrk="1" hangingPunct="1">
      <a:defRPr sz="1200" kern="1200">
        <a:solidFill>
          <a:schemeClr val="tx1"/>
        </a:solidFill>
        <a:latin typeface="Adobe 명조 Std M" panose="02020600000000000000" pitchFamily="18" charset="-127"/>
        <a:ea typeface="Adobe 명조 Std M" panose="02020600000000000000" pitchFamily="18" charset="-127"/>
        <a:cs typeface="+mn-cs"/>
      </a:defRPr>
    </a:lvl2pPr>
    <a:lvl3pPr marL="914400" algn="l" defTabSz="914400" rtl="0" eaLnBrk="1" latinLnBrk="1" hangingPunct="1">
      <a:defRPr sz="1200" kern="1200">
        <a:solidFill>
          <a:schemeClr val="tx1"/>
        </a:solidFill>
        <a:latin typeface="Adobe 명조 Std M" panose="02020600000000000000" pitchFamily="18" charset="-127"/>
        <a:ea typeface="Adobe 명조 Std M" panose="02020600000000000000" pitchFamily="18" charset="-127"/>
        <a:cs typeface="+mn-cs"/>
      </a:defRPr>
    </a:lvl3pPr>
    <a:lvl4pPr marL="1371600" algn="l" defTabSz="914400" rtl="0" eaLnBrk="1" latinLnBrk="1" hangingPunct="1">
      <a:defRPr sz="1200" kern="1200">
        <a:solidFill>
          <a:schemeClr val="tx1"/>
        </a:solidFill>
        <a:latin typeface="Adobe 명조 Std M" panose="02020600000000000000" pitchFamily="18" charset="-127"/>
        <a:ea typeface="Adobe 명조 Std M" panose="02020600000000000000" pitchFamily="18" charset="-127"/>
        <a:cs typeface="+mn-cs"/>
      </a:defRPr>
    </a:lvl4pPr>
    <a:lvl5pPr marL="1828800" algn="l" defTabSz="914400" rtl="0" eaLnBrk="1" latinLnBrk="1" hangingPunct="1">
      <a:defRPr sz="1200" kern="1200">
        <a:solidFill>
          <a:schemeClr val="tx1"/>
        </a:solidFill>
        <a:latin typeface="Adobe 명조 Std M" panose="02020600000000000000" pitchFamily="18" charset="-127"/>
        <a:ea typeface="Adobe 명조 Std M" panose="02020600000000000000" pitchFamily="18"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517900" y="887413"/>
            <a:ext cx="3198813" cy="2398712"/>
          </a:xfrm>
          <a:prstGeom prst="rect">
            <a:avLst/>
          </a:prstGeom>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ED89AFEE-EDE5-467A-9C27-D4B856404C34}" type="slidenum">
              <a:rPr lang="ko-KR" altLang="en-US" smtClean="0"/>
              <a:pPr/>
              <a:t>1</a:t>
            </a:fld>
            <a:endParaRPr lang="ko-KR" altLang="en-US" dirty="0"/>
          </a:p>
        </p:txBody>
      </p:sp>
    </p:spTree>
    <p:extLst>
      <p:ext uri="{BB962C8B-B14F-4D97-AF65-F5344CB8AC3E}">
        <p14:creationId xmlns:p14="http://schemas.microsoft.com/office/powerpoint/2010/main" val="15021486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circuit, L of inductors are mass of damper and the building. Therefore, because the damper of building has smaller mass, L2 is much smaller than L1. C of capacitors are reciprocal of spring constants. Therefore, C2 is much larger than C1, because spring constant of mass damper would be smaller.</a:t>
            </a:r>
          </a:p>
        </p:txBody>
      </p:sp>
      <p:sp>
        <p:nvSpPr>
          <p:cNvPr id="4" name="Slide Number Placeholder 3"/>
          <p:cNvSpPr>
            <a:spLocks noGrp="1"/>
          </p:cNvSpPr>
          <p:nvPr>
            <p:ph type="sldNum" sz="quarter" idx="5"/>
          </p:nvPr>
        </p:nvSpPr>
        <p:spPr/>
        <p:txBody>
          <a:bodyPr/>
          <a:lstStyle/>
          <a:p>
            <a:fld id="{ED89AFEE-EDE5-467A-9C27-D4B856404C34}" type="slidenum">
              <a:rPr lang="ko-KR" altLang="en-US" smtClean="0"/>
              <a:pPr/>
              <a:t>28</a:t>
            </a:fld>
            <a:endParaRPr lang="ko-KR" altLang="en-US" dirty="0"/>
          </a:p>
        </p:txBody>
      </p:sp>
    </p:spTree>
    <p:extLst>
      <p:ext uri="{BB962C8B-B14F-4D97-AF65-F5344CB8AC3E}">
        <p14:creationId xmlns:p14="http://schemas.microsoft.com/office/powerpoint/2010/main" val="1650404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I1 – i2, i2 has a large amplitude. The tuned mass damper rings greatly. Because the I(C2) and I(L2) have opposite phase, they give and back the energy with great amplitude. While, I(C1), which is the main structure, has small amplitude, showing that the main building is protected.</a:t>
            </a:r>
          </a:p>
        </p:txBody>
      </p:sp>
      <p:sp>
        <p:nvSpPr>
          <p:cNvPr id="4" name="Slide Number Placeholder 3"/>
          <p:cNvSpPr>
            <a:spLocks noGrp="1"/>
          </p:cNvSpPr>
          <p:nvPr>
            <p:ph type="sldNum" sz="quarter" idx="5"/>
          </p:nvPr>
        </p:nvSpPr>
        <p:spPr/>
        <p:txBody>
          <a:bodyPr/>
          <a:lstStyle/>
          <a:p>
            <a:fld id="{ED89AFEE-EDE5-467A-9C27-D4B856404C34}" type="slidenum">
              <a:rPr lang="ko-KR" altLang="en-US" smtClean="0"/>
              <a:pPr/>
              <a:t>36</a:t>
            </a:fld>
            <a:endParaRPr lang="ko-KR" altLang="en-US" dirty="0"/>
          </a:p>
        </p:txBody>
      </p:sp>
    </p:spTree>
    <p:extLst>
      <p:ext uri="{BB962C8B-B14F-4D97-AF65-F5344CB8AC3E}">
        <p14:creationId xmlns:p14="http://schemas.microsoft.com/office/powerpoint/2010/main" val="76468192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371602"/>
            <a:ext cx="7848600" cy="1927225"/>
          </a:xfrm>
        </p:spPr>
        <p:txBody>
          <a:bodyPr anchor="b">
            <a:noAutofit/>
          </a:bodyPr>
          <a:lstStyle>
            <a:lvl1pPr>
              <a:defRPr sz="5400" cap="all" baseline="0">
                <a:latin typeface="Times New Roman" panose="02020603050405020304" pitchFamily="18" charset="0"/>
                <a:ea typeface="NanumMyeongjo" panose="02020603020101020101" pitchFamily="18" charset="-127"/>
              </a:defRPr>
            </a:lvl1pPr>
          </a:lstStyle>
          <a:p>
            <a:r>
              <a:rPr lang="ko-KR" altLang="en-US" dirty="0"/>
              <a:t>마스터 제목 스타일 편집</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endParaRPr lang="en-US" dirty="0"/>
          </a:p>
        </p:txBody>
      </p:sp>
      <p:sp>
        <p:nvSpPr>
          <p:cNvPr id="4" name="Date Placeholder 3"/>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8D70C893-AE5D-47E5-9ECD-7B03BA21ED09}" type="slidenum">
              <a:rPr lang="ko-KR" altLang="en-US" smtClean="0"/>
              <a:t>‹#›</a:t>
            </a:fld>
            <a:endParaRPr lang="ko-KR" altLang="en-US"/>
          </a:p>
        </p:txBody>
      </p:sp>
      <p:cxnSp>
        <p:nvCxnSpPr>
          <p:cNvPr id="8" name="Straight Connector 7"/>
          <p:cNvCxnSpPr/>
          <p:nvPr/>
        </p:nvCxnSpPr>
        <p:spPr>
          <a:xfrm>
            <a:off x="685800" y="3398520"/>
            <a:ext cx="7848600" cy="1588"/>
          </a:xfrm>
          <a:prstGeom prst="line">
            <a:avLst/>
          </a:prstGeom>
          <a:ln w="19050">
            <a:solidFill>
              <a:srgbClr val="2F3192"/>
            </a:solidFill>
          </a:ln>
        </p:spPr>
        <p:style>
          <a:lnRef idx="1">
            <a:schemeClr val="accent1"/>
          </a:lnRef>
          <a:fillRef idx="0">
            <a:schemeClr val="accent1"/>
          </a:fillRef>
          <a:effectRef idx="0">
            <a:schemeClr val="accent1"/>
          </a:effectRef>
          <a:fontRef idx="minor">
            <a:schemeClr val="tx1"/>
          </a:fontRef>
        </p:style>
      </p:cxnSp>
      <p:pic>
        <p:nvPicPr>
          <p:cNvPr id="11" name="그림 10">
            <a:extLst>
              <a:ext uri="{FF2B5EF4-FFF2-40B4-BE49-F238E27FC236}">
                <a16:creationId xmlns:a16="http://schemas.microsoft.com/office/drawing/2014/main" id="{E5C0C99D-8B4B-C802-801B-60DC048E41E9}"/>
              </a:ext>
            </a:extLst>
          </p:cNvPr>
          <p:cNvPicPr>
            <a:picLocks noChangeAspect="1"/>
          </p:cNvPicPr>
          <p:nvPr userDrawn="1"/>
        </p:nvPicPr>
        <p:blipFill>
          <a:blip r:embed="rId2">
            <a:extLst>
              <a:ext uri="{BEBA8EAE-BF5A-486C-A8C5-ECC9F3942E4B}">
                <a14:imgProps xmlns:a14="http://schemas.microsoft.com/office/drawing/2010/main">
                  <a14:imgLayer r:embed="rId3">
                    <a14:imgEffect>
                      <a14:backgroundRemoval t="9605" b="93220" l="9375" r="89773">
                        <a14:foregroundMark x1="35227" y1="32768" x2="35227" y2="32768"/>
                        <a14:foregroundMark x1="35795" y1="33898" x2="49148" y2="60452"/>
                        <a14:foregroundMark x1="40057" y1="20339" x2="30398" y2="37853"/>
                        <a14:foregroundMark x1="39773" y1="23729" x2="9659" y2="49153"/>
                        <a14:foregroundMark x1="9659" y1="49153" x2="37500" y2="73446"/>
                        <a14:foregroundMark x1="37500" y1="73446" x2="67045" y2="70621"/>
                        <a14:foregroundMark x1="67045" y1="70621" x2="51705" y2="14124"/>
                        <a14:foregroundMark x1="51705" y1="14124" x2="48295" y2="10169"/>
                        <a14:foregroundMark x1="13068" y1="55932" x2="45739" y2="76271"/>
                        <a14:foregroundMark x1="26136" y1="68927" x2="34659" y2="75706"/>
                        <a14:foregroundMark x1="36080" y1="54802" x2="41477" y2="48588"/>
                        <a14:foregroundMark x1="52273" y1="40678" x2="35227" y2="55932"/>
                        <a14:foregroundMark x1="37500" y1="32768" x2="30114" y2="59887"/>
                        <a14:foregroundMark x1="43182" y1="29379" x2="40909" y2="45763"/>
                        <a14:foregroundMark x1="48011" y1="28814" x2="66761" y2="53107"/>
                        <a14:foregroundMark x1="52557" y1="51412" x2="59659" y2="75706"/>
                        <a14:foregroundMark x1="56250" y1="29944" x2="72159" y2="53107"/>
                        <a14:foregroundMark x1="55398" y1="16949" x2="65909" y2="37853"/>
                        <a14:foregroundMark x1="63920" y1="27119" x2="75852" y2="41243"/>
                        <a14:foregroundMark x1="76420" y1="40113" x2="81818" y2="48023"/>
                        <a14:foregroundMark x1="73864" y1="37853" x2="80398" y2="45198"/>
                        <a14:foregroundMark x1="82102" y1="46328" x2="86364" y2="53107"/>
                        <a14:foregroundMark x1="84943" y1="48588" x2="87216" y2="50282"/>
                        <a14:foregroundMark x1="89205" y1="54237" x2="79545" y2="59887"/>
                        <a14:foregroundMark x1="79261" y1="56497" x2="71875" y2="70056"/>
                        <a14:foregroundMark x1="67898" y1="70056" x2="60795" y2="80226"/>
                        <a14:foregroundMark x1="57955" y1="74011" x2="50852" y2="93220"/>
                        <a14:foregroundMark x1="28977" y1="62147" x2="49432" y2="67232"/>
                        <a14:foregroundMark x1="36080" y1="80226" x2="45455" y2="85311"/>
                      </a14:backgroundRemoval>
                    </a14:imgEffect>
                  </a14:imgLayer>
                </a14:imgProps>
              </a:ext>
            </a:extLst>
          </a:blip>
          <a:stretch>
            <a:fillRect/>
          </a:stretch>
        </p:blipFill>
        <p:spPr>
          <a:xfrm>
            <a:off x="7467588" y="5852437"/>
            <a:ext cx="1676412" cy="84296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3" name="그림 12" descr="클립아트, 꽃, 만화 영화, 동물 피규어이(가) 표시된 사진&#10;&#10;자동 생성된 설명">
            <a:extLst>
              <a:ext uri="{FF2B5EF4-FFF2-40B4-BE49-F238E27FC236}">
                <a16:creationId xmlns:a16="http://schemas.microsoft.com/office/drawing/2014/main" id="{BE139311-D7CC-3436-5183-0270AAD8E03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74085" y="5769338"/>
            <a:ext cx="995829" cy="1009166"/>
          </a:xfrm>
          <a:prstGeom prst="rect">
            <a:avLst/>
          </a:prstGeom>
        </p:spPr>
      </p:pic>
      <p:pic>
        <p:nvPicPr>
          <p:cNvPr id="15" name="그림 14" descr="은행나무, 식물, 잎, 나무이(가) 표시된 사진&#10;&#10;자동 생성된 설명">
            <a:extLst>
              <a:ext uri="{FF2B5EF4-FFF2-40B4-BE49-F238E27FC236}">
                <a16:creationId xmlns:a16="http://schemas.microsoft.com/office/drawing/2014/main" id="{4E5EE352-6689-9BDD-8C8B-EB930CECC38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68084" y="5928921"/>
            <a:ext cx="766485" cy="766485"/>
          </a:xfrm>
          <a:prstGeom prst="rect">
            <a:avLst/>
          </a:prstGeom>
        </p:spPr>
      </p:pic>
      <p:sp>
        <p:nvSpPr>
          <p:cNvPr id="7" name="타원 6">
            <a:extLst>
              <a:ext uri="{FF2B5EF4-FFF2-40B4-BE49-F238E27FC236}">
                <a16:creationId xmlns:a16="http://schemas.microsoft.com/office/drawing/2014/main" id="{2CB1A87F-9E37-7E0F-A684-DC1C56F9F1A6}"/>
              </a:ext>
            </a:extLst>
          </p:cNvPr>
          <p:cNvSpPr/>
          <p:nvPr userDrawn="1"/>
        </p:nvSpPr>
        <p:spPr>
          <a:xfrm>
            <a:off x="4512188" y="5974556"/>
            <a:ext cx="36000" cy="360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2357270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ea typeface="NanumMyeongjo" panose="02020603020101020101" pitchFamily="18" charset="-127"/>
              </a:defRPr>
            </a:lvl1pPr>
          </a:lstStyle>
          <a:p>
            <a:r>
              <a:rPr lang="ko-KR" altLang="en-US" dirty="0"/>
              <a:t>마스터 제목 스타일 편집</a:t>
            </a:r>
            <a:endParaRPr lang="en-US" dirty="0"/>
          </a:p>
        </p:txBody>
      </p:sp>
      <p:sp>
        <p:nvSpPr>
          <p:cNvPr id="3" name="Content Placeholder 2"/>
          <p:cNvSpPr>
            <a:spLocks noGrp="1"/>
          </p:cNvSpPr>
          <p:nvPr>
            <p:ph idx="1"/>
          </p:nvPr>
        </p:nvSpPr>
        <p:spPr/>
        <p:txBody>
          <a:bodyPr/>
          <a:lstStyle>
            <a:lvl1pPr>
              <a:defRPr>
                <a:latin typeface="Times New Roman" panose="02020603050405020304" pitchFamily="18" charset="0"/>
                <a:ea typeface="NanumMyeongjo" panose="02020603020101020101" pitchFamily="18" charset="-127"/>
              </a:defRPr>
            </a:lvl1pPr>
            <a:lvl2pPr>
              <a:defRPr>
                <a:latin typeface="Times New Roman" panose="02020603050405020304" pitchFamily="18" charset="0"/>
                <a:ea typeface="NanumMyeongjo" panose="02020603020101020101" pitchFamily="18" charset="-127"/>
              </a:defRPr>
            </a:lvl2pPr>
            <a:lvl3pPr>
              <a:defRPr>
                <a:latin typeface="Times New Roman" panose="02020603050405020304" pitchFamily="18" charset="0"/>
                <a:ea typeface="NanumMyeongjo" panose="02020603020101020101" pitchFamily="18" charset="-127"/>
              </a:defRPr>
            </a:lvl3pPr>
            <a:lvl4pPr>
              <a:defRPr>
                <a:latin typeface="Times New Roman" panose="02020603050405020304" pitchFamily="18" charset="0"/>
                <a:ea typeface="NanumMyeongjo" panose="02020603020101020101" pitchFamily="18" charset="-127"/>
              </a:defRPr>
            </a:lvl4pPr>
            <a:lvl5pPr>
              <a:defRPr>
                <a:latin typeface="Times New Roman" panose="02020603050405020304" pitchFamily="18" charset="0"/>
                <a:ea typeface="NanumMyeongjo" panose="02020603020101020101" pitchFamily="18" charset="-127"/>
              </a:defRPr>
            </a:lvl5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737417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3" name="날짜 개체 틀 2">
            <a:extLst>
              <a:ext uri="{FF2B5EF4-FFF2-40B4-BE49-F238E27FC236}">
                <a16:creationId xmlns:a16="http://schemas.microsoft.com/office/drawing/2014/main" id="{A0FC75D8-9741-B610-7FA1-0D81CD0DD593}"/>
              </a:ext>
            </a:extLst>
          </p:cNvPr>
          <p:cNvSpPr>
            <a:spLocks noGrp="1"/>
          </p:cNvSpPr>
          <p:nvPr>
            <p:ph type="dt" sz="half" idx="10"/>
          </p:nvPr>
        </p:nvSpPr>
        <p:spPr/>
        <p:txBody>
          <a:bodyPr/>
          <a:lstStyle/>
          <a:p>
            <a:fld id="{511F6B55-38DE-4DD5-B154-5C6399E42A62}" type="datetimeFigureOut">
              <a:rPr lang="ko-KR" altLang="en-US" smtClean="0"/>
              <a:pPr/>
              <a:t>2026. 7. 2.</a:t>
            </a:fld>
            <a:endParaRPr lang="ko-KR" altLang="en-US" dirty="0"/>
          </a:p>
        </p:txBody>
      </p:sp>
      <p:sp>
        <p:nvSpPr>
          <p:cNvPr id="4" name="바닥글 개체 틀 3">
            <a:extLst>
              <a:ext uri="{FF2B5EF4-FFF2-40B4-BE49-F238E27FC236}">
                <a16:creationId xmlns:a16="http://schemas.microsoft.com/office/drawing/2014/main" id="{FF5F4E20-AEBD-A7D4-637E-1CC6C2B8FF36}"/>
              </a:ext>
            </a:extLst>
          </p:cNvPr>
          <p:cNvSpPr>
            <a:spLocks noGrp="1"/>
          </p:cNvSpPr>
          <p:nvPr>
            <p:ph type="ftr" sz="quarter" idx="11"/>
          </p:nvPr>
        </p:nvSpPr>
        <p:spPr/>
        <p:txBody>
          <a:bodyPr/>
          <a:lstStyle/>
          <a:p>
            <a:endParaRPr lang="ko-KR" altLang="en-US" dirty="0"/>
          </a:p>
        </p:txBody>
      </p:sp>
      <p:sp>
        <p:nvSpPr>
          <p:cNvPr id="5" name="슬라이드 번호 개체 틀 4">
            <a:extLst>
              <a:ext uri="{FF2B5EF4-FFF2-40B4-BE49-F238E27FC236}">
                <a16:creationId xmlns:a16="http://schemas.microsoft.com/office/drawing/2014/main" id="{F195C1AF-D7D7-1F8E-A3BF-9864632ACF33}"/>
              </a:ext>
            </a:extLst>
          </p:cNvPr>
          <p:cNvSpPr>
            <a:spLocks noGrp="1"/>
          </p:cNvSpPr>
          <p:nvPr>
            <p:ph type="sldNum" sz="quarter" idx="12"/>
          </p:nvPr>
        </p:nvSpPr>
        <p:spPr/>
        <p:txBody>
          <a:bodyPr/>
          <a:lstStyle/>
          <a:p>
            <a:fld id="{8D70C893-AE5D-47E5-9ECD-7B03BA21ED09}" type="slidenum">
              <a:rPr lang="ko-KR" altLang="en-US" smtClean="0"/>
              <a:pPr/>
              <a:t>‹#›</a:t>
            </a:fld>
            <a:endParaRPr lang="ko-KR" altLang="en-US" dirty="0"/>
          </a:p>
        </p:txBody>
      </p:sp>
      <p:sp>
        <p:nvSpPr>
          <p:cNvPr id="6" name="내용 개체 틀 2">
            <a:extLst>
              <a:ext uri="{FF2B5EF4-FFF2-40B4-BE49-F238E27FC236}">
                <a16:creationId xmlns:a16="http://schemas.microsoft.com/office/drawing/2014/main" id="{453905B5-5F2A-6D4D-B4F0-81DF2FD05CCC}"/>
              </a:ext>
            </a:extLst>
          </p:cNvPr>
          <p:cNvSpPr>
            <a:spLocks noGrp="1"/>
          </p:cNvSpPr>
          <p:nvPr>
            <p:ph idx="1" hasCustomPrompt="1"/>
          </p:nvPr>
        </p:nvSpPr>
        <p:spPr>
          <a:xfrm>
            <a:off x="457200" y="514350"/>
            <a:ext cx="8229600" cy="5962650"/>
          </a:xfrm>
        </p:spPr>
        <p:txBody>
          <a:bodyPr anchor="ctr">
            <a:normAutofit/>
          </a:bodyPr>
          <a:lstStyle>
            <a:lvl1pPr marL="182880" indent="-182880" algn="ctr" latinLnBrk="0">
              <a:lnSpc>
                <a:spcPct val="100000"/>
              </a:lnSpc>
              <a:defRPr sz="3000"/>
            </a:lvl1pPr>
          </a:lstStyle>
          <a:p>
            <a:pPr marL="0" indent="0" algn="ctr">
              <a:buNone/>
            </a:pPr>
            <a:r>
              <a:rPr lang="ko-KR" altLang="en-US" sz="9600" dirty="0"/>
              <a:t>마</a:t>
            </a:r>
          </a:p>
        </p:txBody>
      </p:sp>
    </p:spTree>
    <p:extLst>
      <p:ext uri="{BB962C8B-B14F-4D97-AF65-F5344CB8AC3E}">
        <p14:creationId xmlns:p14="http://schemas.microsoft.com/office/powerpoint/2010/main" val="53386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구역 머리글">
    <p:bg>
      <p:bgPr>
        <a:solidFill>
          <a:srgbClr val="2F319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2362201"/>
            <a:ext cx="7772400" cy="2200275"/>
          </a:xfrm>
        </p:spPr>
        <p:txBody>
          <a:bodyPr anchor="b">
            <a:normAutofit/>
          </a:bodyPr>
          <a:lstStyle>
            <a:lvl1pPr algn="l">
              <a:defRPr sz="4800" b="0" cap="none" baseline="0">
                <a:solidFill>
                  <a:schemeClr val="tx1"/>
                </a:solidFill>
                <a:ea typeface="NanumMyeongjo" panose="02020603020101020101" pitchFamily="18" charset="-127"/>
              </a:defRPr>
            </a:lvl1pPr>
          </a:lstStyle>
          <a:p>
            <a:r>
              <a:rPr lang="ko-KR" altLang="en-US" dirty="0"/>
              <a:t>마스터 제목 스타일 편집</a:t>
            </a:r>
            <a:endParaRPr lang="en-US" dirty="0"/>
          </a:p>
        </p:txBody>
      </p:sp>
      <p:sp>
        <p:nvSpPr>
          <p:cNvPr id="3" name="Text Placeholder 2"/>
          <p:cNvSpPr>
            <a:spLocks noGrp="1"/>
          </p:cNvSpPr>
          <p:nvPr>
            <p:ph type="body" idx="1"/>
          </p:nvPr>
        </p:nvSpPr>
        <p:spPr>
          <a:xfrm>
            <a:off x="722313" y="4626866"/>
            <a:ext cx="7772400" cy="1500187"/>
          </a:xfrm>
        </p:spPr>
        <p:txBody>
          <a:bodyPr anchor="t">
            <a:normAutofit/>
          </a:bodyPr>
          <a:lstStyle>
            <a:lvl1pPr marL="0" indent="0">
              <a:buNone/>
              <a:defRPr sz="2400" baseline="0">
                <a:solidFill>
                  <a:schemeClr val="tx2"/>
                </a:solidFill>
                <a:ea typeface="NanumMyeongjo" panose="02020603020101020101" pitchFamily="18" charset="-127"/>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dirty="0"/>
              <a:t>마스터 텍스트 스타일을 편집합니다</a:t>
            </a:r>
          </a:p>
        </p:txBody>
      </p:sp>
      <p:sp>
        <p:nvSpPr>
          <p:cNvPr id="4" name="Date Placeholder 3"/>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8D70C893-AE5D-47E5-9ECD-7B03BA21ED09}" type="slidenum">
              <a:rPr lang="ko-KR" altLang="en-US" smtClean="0"/>
              <a:t>‹#›</a:t>
            </a:fld>
            <a:endParaRPr lang="ko-KR" altLang="en-US"/>
          </a:p>
        </p:txBody>
      </p:sp>
      <p:cxnSp>
        <p:nvCxnSpPr>
          <p:cNvPr id="7" name="Straight Connector 6"/>
          <p:cNvCxnSpPr/>
          <p:nvPr/>
        </p:nvCxnSpPr>
        <p:spPr>
          <a:xfrm>
            <a:off x="731520" y="4599432"/>
            <a:ext cx="78486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52989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ea typeface="NanumMyeongjo" panose="02020603020101020101" pitchFamily="18" charset="-127"/>
              </a:defRPr>
            </a:lvl1pPr>
          </a:lstStyle>
          <a:p>
            <a:r>
              <a:rPr lang="ko-KR" altLang="en-US" dirty="0"/>
              <a:t>마스터 제목 스타일 편집</a:t>
            </a:r>
            <a:endParaRPr lang="en-US" dirty="0"/>
          </a:p>
        </p:txBody>
      </p:sp>
      <p:sp>
        <p:nvSpPr>
          <p:cNvPr id="3" name="Content Placeholder 2"/>
          <p:cNvSpPr>
            <a:spLocks noGrp="1"/>
          </p:cNvSpPr>
          <p:nvPr>
            <p:ph sz="half" idx="1"/>
          </p:nvPr>
        </p:nvSpPr>
        <p:spPr>
          <a:xfrm>
            <a:off x="457200" y="1673352"/>
            <a:ext cx="4038600" cy="4718304"/>
          </a:xfrm>
        </p:spPr>
        <p:txBody>
          <a:bodyPr/>
          <a:lstStyle>
            <a:lvl1pPr>
              <a:defRPr sz="2800" baseline="0">
                <a:latin typeface="Times New Roman" panose="02020603050405020304" pitchFamily="18" charset="0"/>
                <a:ea typeface="NanumMyeongjo" panose="02020603020101020101" pitchFamily="18" charset="-127"/>
              </a:defRPr>
            </a:lvl1pPr>
            <a:lvl2pPr>
              <a:defRPr sz="2400">
                <a:latin typeface="HY그래픽" panose="02030600000101010101" pitchFamily="18" charset="-127"/>
                <a:ea typeface="NanumMyeongjo" panose="02020603020101020101" pitchFamily="18" charset="-127"/>
              </a:defRPr>
            </a:lvl2pPr>
            <a:lvl3pPr>
              <a:defRPr sz="2000">
                <a:latin typeface="HY그래픽" panose="02030600000101010101" pitchFamily="18" charset="-127"/>
                <a:ea typeface="NanumMyeongjo" panose="02020603020101020101" pitchFamily="18" charset="-127"/>
              </a:defRPr>
            </a:lvl3pPr>
            <a:lvl4pPr>
              <a:defRPr sz="1800">
                <a:latin typeface="HY그래픽" panose="02030600000101010101" pitchFamily="18" charset="-127"/>
                <a:ea typeface="NanumMyeongjo" panose="02020603020101020101" pitchFamily="18" charset="-127"/>
              </a:defRPr>
            </a:lvl4pPr>
            <a:lvl5pPr>
              <a:defRPr sz="1800">
                <a:latin typeface="HY그래픽" panose="02030600000101010101" pitchFamily="18" charset="-127"/>
                <a:ea typeface="NanumMyeongjo" panose="02020603020101020101" pitchFamily="18" charset="-127"/>
              </a:defRPr>
            </a:lvl5pPr>
            <a:lvl6pPr>
              <a:defRPr sz="1800"/>
            </a:lvl6pPr>
            <a:lvl7pPr>
              <a:defRPr sz="1800"/>
            </a:lvl7pPr>
            <a:lvl8pPr>
              <a:defRPr sz="1800"/>
            </a:lvl8pPr>
            <a:lvl9pPr>
              <a:defRPr sz="18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atin typeface="HY그래픽" panose="02030600000101010101" pitchFamily="18" charset="-127"/>
                <a:ea typeface="NanumMyeongjo" panose="02020603020101020101" pitchFamily="18" charset="-127"/>
              </a:defRPr>
            </a:lvl1pPr>
            <a:lvl2pPr>
              <a:defRPr sz="2400">
                <a:latin typeface="HY그래픽" panose="02030600000101010101" pitchFamily="18" charset="-127"/>
                <a:ea typeface="NanumMyeongjo" panose="02020603020101020101" pitchFamily="18" charset="-127"/>
              </a:defRPr>
            </a:lvl2pPr>
            <a:lvl3pPr>
              <a:defRPr sz="2000">
                <a:latin typeface="HY그래픽" panose="02030600000101010101" pitchFamily="18" charset="-127"/>
                <a:ea typeface="NanumMyeongjo" panose="02020603020101020101" pitchFamily="18" charset="-127"/>
              </a:defRPr>
            </a:lvl3pPr>
            <a:lvl4pPr>
              <a:defRPr sz="1800">
                <a:latin typeface="HY그래픽" panose="02030600000101010101" pitchFamily="18" charset="-127"/>
                <a:ea typeface="NanumMyeongjo" panose="02020603020101020101" pitchFamily="18" charset="-127"/>
              </a:defRPr>
            </a:lvl4pPr>
            <a:lvl5pPr>
              <a:defRPr sz="1800">
                <a:latin typeface="HY그래픽" panose="02030600000101010101" pitchFamily="18" charset="-127"/>
                <a:ea typeface="NanumMyeongjo" panose="02020603020101020101" pitchFamily="18" charset="-127"/>
              </a:defRPr>
            </a:lvl5pPr>
            <a:lvl6pPr>
              <a:defRPr sz="1800"/>
            </a:lvl6pPr>
            <a:lvl7pPr>
              <a:defRPr sz="1800"/>
            </a:lvl7pPr>
            <a:lvl8pPr>
              <a:defRPr sz="1800"/>
            </a:lvl8pPr>
            <a:lvl9pPr>
              <a:defRPr sz="18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5" name="Date Placeholder 4"/>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10273213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ea typeface="NanumMyeongjo" panose="02020603020101020101" pitchFamily="18" charset="-127"/>
              </a:defRPr>
            </a:lvl1pPr>
          </a:lstStyle>
          <a:p>
            <a:r>
              <a:rPr lang="ko-KR" altLang="en-US" dirty="0"/>
              <a:t>마스터 제목 스타일 편집 </a:t>
            </a:r>
            <a:r>
              <a:rPr lang="en-US" altLang="ko-KR" dirty="0"/>
              <a:t>Times</a:t>
            </a:r>
            <a:endParaRPr lang="en-US" dirty="0"/>
          </a:p>
        </p:txBody>
      </p:sp>
      <p:sp>
        <p:nvSpPr>
          <p:cNvPr id="3" name="Text Placeholder 2"/>
          <p:cNvSpPr>
            <a:spLocks noGrp="1"/>
          </p:cNvSpPr>
          <p:nvPr>
            <p:ph type="body" idx="1" hasCustomPrompt="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baseline="0">
                <a:solidFill>
                  <a:srgbClr val="2F3192"/>
                </a:solidFill>
                <a:ea typeface="NanumMyeongjo" panose="02020603020101020101" pitchFamily="18"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편집합니다 </a:t>
            </a:r>
            <a:r>
              <a:rPr lang="en-US" altLang="ko-KR" dirty="0"/>
              <a:t>Times</a:t>
            </a:r>
            <a:endParaRPr lang="ko-KR" altLang="en-US" dirty="0"/>
          </a:p>
        </p:txBody>
      </p:sp>
      <p:sp>
        <p:nvSpPr>
          <p:cNvPr id="4" name="Content Placeholder 3"/>
          <p:cNvSpPr>
            <a:spLocks noGrp="1"/>
          </p:cNvSpPr>
          <p:nvPr>
            <p:ph sz="half" idx="2" hasCustomPrompt="1"/>
          </p:nvPr>
        </p:nvSpPr>
        <p:spPr>
          <a:xfrm>
            <a:off x="457200" y="2438400"/>
            <a:ext cx="3931920" cy="3951288"/>
          </a:xfrm>
        </p:spPr>
        <p:txBody>
          <a:bodyPr/>
          <a:lstStyle>
            <a:lvl1pPr>
              <a:defRPr sz="2400">
                <a:latin typeface="+mn-lt"/>
                <a:ea typeface="NanumMyeongjo" panose="02020603020101020101" pitchFamily="18" charset="-127"/>
              </a:defRPr>
            </a:lvl1pPr>
            <a:lvl2pPr>
              <a:defRPr sz="2000">
                <a:latin typeface="HY그래픽" panose="02030600000101010101" pitchFamily="18" charset="-127"/>
                <a:ea typeface="NanumMyeongjo" panose="02020603020101020101" pitchFamily="18" charset="-127"/>
              </a:defRPr>
            </a:lvl2pPr>
            <a:lvl3pPr>
              <a:defRPr sz="1800" baseline="0">
                <a:latin typeface="Times New Roman" panose="02020603050405020304" pitchFamily="18" charset="0"/>
                <a:ea typeface="NanumMyeongjo" panose="02020603020101020101" pitchFamily="18" charset="-127"/>
              </a:defRPr>
            </a:lvl3pPr>
            <a:lvl4pPr>
              <a:defRPr sz="1600">
                <a:latin typeface="HY그래픽" panose="02030600000101010101" pitchFamily="18" charset="-127"/>
                <a:ea typeface="NanumMyeongjo" panose="02020603020101020101" pitchFamily="18" charset="-127"/>
              </a:defRPr>
            </a:lvl4pPr>
            <a:lvl5pPr>
              <a:defRPr sz="1600">
                <a:latin typeface="HY그래픽" panose="02030600000101010101" pitchFamily="18" charset="-127"/>
                <a:ea typeface="NanumMyeongjo" panose="02020603020101020101" pitchFamily="18" charset="-127"/>
              </a:defRPr>
            </a:lvl5pPr>
            <a:lvl6pPr>
              <a:defRPr sz="1600"/>
            </a:lvl6pPr>
            <a:lvl7pPr>
              <a:defRPr sz="1600"/>
            </a:lvl7pPr>
            <a:lvl8pPr>
              <a:defRPr sz="1600"/>
            </a:lvl8pPr>
            <a:lvl9pPr>
              <a:defRPr sz="1600"/>
            </a:lvl9pPr>
          </a:lstStyle>
          <a:p>
            <a:pPr lvl="0"/>
            <a:r>
              <a:rPr lang="ko-KR" altLang="en-US" dirty="0"/>
              <a:t>마스터 텍스트 스타일을 편집합니다 </a:t>
            </a:r>
            <a:r>
              <a:rPr lang="en-US" altLang="ko-KR" dirty="0"/>
              <a:t>Times</a:t>
            </a:r>
            <a:endParaRPr lang="ko-KR" altLang="en-US" dirty="0"/>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5" name="Text Placeholder 4"/>
          <p:cNvSpPr>
            <a:spLocks noGrp="1"/>
          </p:cNvSpPr>
          <p:nvPr>
            <p:ph type="body" sz="quarter" idx="3" hasCustomPrompt="1"/>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baseline="0" dirty="0" smtClean="0">
                <a:solidFill>
                  <a:srgbClr val="2F3192"/>
                </a:solidFill>
                <a:latin typeface="+mn-lt"/>
                <a:ea typeface="NanumMyeongjo" panose="02020603020101020101" pitchFamily="18" charset="-127"/>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편집합니다 </a:t>
            </a:r>
            <a:r>
              <a:rPr lang="en-US" altLang="ko-KR" dirty="0"/>
              <a:t>Times</a:t>
            </a:r>
            <a:endParaRPr lang="ko-KR" altLang="en-US" dirty="0"/>
          </a:p>
        </p:txBody>
      </p:sp>
      <p:sp>
        <p:nvSpPr>
          <p:cNvPr id="6" name="Content Placeholder 5"/>
          <p:cNvSpPr>
            <a:spLocks noGrp="1"/>
          </p:cNvSpPr>
          <p:nvPr>
            <p:ph sz="quarter" idx="4" hasCustomPrompt="1"/>
          </p:nvPr>
        </p:nvSpPr>
        <p:spPr>
          <a:xfrm>
            <a:off x="4754880" y="2438400"/>
            <a:ext cx="3931920" cy="3951288"/>
          </a:xfrm>
        </p:spPr>
        <p:txBody>
          <a:bodyPr/>
          <a:lstStyle>
            <a:lvl1pPr>
              <a:defRPr sz="2400">
                <a:latin typeface="+mn-lt"/>
                <a:ea typeface="NanumMyeongjo" pitchFamily="2" charset="-127"/>
              </a:defRPr>
            </a:lvl1pPr>
            <a:lvl2pPr>
              <a:defRPr sz="2000">
                <a:latin typeface="NanumMyeongjo" pitchFamily="2" charset="-127"/>
                <a:ea typeface="NanumMyeongjo" pitchFamily="2" charset="-127"/>
              </a:defRPr>
            </a:lvl2pPr>
            <a:lvl3pPr>
              <a:defRPr sz="1800">
                <a:latin typeface="NanumMyeongjo" pitchFamily="2" charset="-127"/>
                <a:ea typeface="NanumMyeongjo" pitchFamily="2" charset="-127"/>
              </a:defRPr>
            </a:lvl3pPr>
            <a:lvl4pPr>
              <a:defRPr sz="1600">
                <a:latin typeface="NanumMyeongjo" pitchFamily="2" charset="-127"/>
                <a:ea typeface="NanumMyeongjo" pitchFamily="2" charset="-127"/>
              </a:defRPr>
            </a:lvl4pPr>
            <a:lvl5pPr>
              <a:defRPr sz="1600">
                <a:latin typeface="NanumMyeongjo" pitchFamily="2" charset="-127"/>
                <a:ea typeface="NanumMyeongjo" pitchFamily="2" charset="-127"/>
              </a:defRPr>
            </a:lvl5pPr>
            <a:lvl6pPr>
              <a:defRPr sz="1600"/>
            </a:lvl6pPr>
            <a:lvl7pPr>
              <a:defRPr sz="1600"/>
            </a:lvl7pPr>
            <a:lvl8pPr>
              <a:defRPr sz="1600"/>
            </a:lvl8pPr>
            <a:lvl9pPr>
              <a:defRPr sz="1600"/>
            </a:lvl9pPr>
          </a:lstStyle>
          <a:p>
            <a:pPr lvl="0"/>
            <a:r>
              <a:rPr lang="ko-KR" altLang="en-US" dirty="0"/>
              <a:t>마스터 텍스트 스타일을 편집합니다 </a:t>
            </a:r>
            <a:r>
              <a:rPr lang="en-US" altLang="ko-KR" dirty="0"/>
              <a:t>Times</a:t>
            </a:r>
            <a:endParaRPr lang="ko-KR" altLang="en-US" dirty="0"/>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7" name="Date Placeholder 6"/>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8D70C893-AE5D-47E5-9ECD-7B03BA21ED09}" type="slidenum">
              <a:rPr lang="ko-KR" altLang="en-US" smtClean="0"/>
              <a:t>‹#›</a:t>
            </a:fld>
            <a:endParaRPr lang="ko-KR" altLang="en-US"/>
          </a:p>
        </p:txBody>
      </p:sp>
      <p:cxnSp>
        <p:nvCxnSpPr>
          <p:cNvPr id="11" name="Straight Connector 10"/>
          <p:cNvCxnSpPr/>
          <p:nvPr/>
        </p:nvCxnSpPr>
        <p:spPr>
          <a:xfrm rot="5400000">
            <a:off x="2217817" y="4045824"/>
            <a:ext cx="4709160" cy="794"/>
          </a:xfrm>
          <a:prstGeom prst="line">
            <a:avLst/>
          </a:prstGeom>
          <a:ln w="19050">
            <a:solidFill>
              <a:srgbClr val="2F319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3265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Date Placeholder 2"/>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2423782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2049367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57200" y="792080"/>
            <a:ext cx="2139696" cy="1261872"/>
          </a:xfrm>
        </p:spPr>
        <p:txBody>
          <a:bodyPr anchor="b">
            <a:noAutofit/>
          </a:bodyPr>
          <a:lstStyle>
            <a:lvl1pPr algn="l">
              <a:defRPr sz="2400" b="0" baseline="0">
                <a:ea typeface="NanumMyeongjo" panose="02020603020101020101" pitchFamily="18" charset="-127"/>
              </a:defRPr>
            </a:lvl1pPr>
          </a:lstStyle>
          <a:p>
            <a:r>
              <a:rPr lang="ko-KR" altLang="en-US" dirty="0"/>
              <a:t>마스터 제목 스타일 편집</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ea typeface="NanumMyeongjo" panose="02020603020101020101" pitchFamily="18" charset="-127"/>
              </a:defRPr>
            </a:lvl1pPr>
            <a:lvl2pPr>
              <a:defRPr sz="2800">
                <a:ea typeface="NanumMyeongjo" panose="02020603020101020101" pitchFamily="18" charset="-127"/>
              </a:defRPr>
            </a:lvl2pPr>
            <a:lvl3pPr>
              <a:defRPr sz="2400">
                <a:ea typeface="NanumMyeongjo" panose="02020603020101020101" pitchFamily="18" charset="-127"/>
              </a:defRPr>
            </a:lvl3pPr>
            <a:lvl4pPr>
              <a:defRPr sz="2000">
                <a:ea typeface="NanumMyeongjo" panose="02020603020101020101" pitchFamily="18" charset="-127"/>
              </a:defRPr>
            </a:lvl4pPr>
            <a:lvl5pPr>
              <a:defRPr sz="2000">
                <a:ea typeface="NanumMyeongjo" panose="02020603020101020101" pitchFamily="18" charset="-127"/>
              </a:defRPr>
            </a:lvl5pPr>
            <a:lvl6pPr>
              <a:defRPr sz="2000"/>
            </a:lvl6pPr>
            <a:lvl7pPr>
              <a:defRPr sz="2000"/>
            </a:lvl7pPr>
            <a:lvl8pPr>
              <a:defRPr sz="2000"/>
            </a:lvl8pPr>
            <a:lvl9pPr>
              <a:defRPr sz="2000"/>
            </a:lvl9p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Text Placeholder 3"/>
          <p:cNvSpPr>
            <a:spLocks noGrp="1"/>
          </p:cNvSpPr>
          <p:nvPr>
            <p:ph type="body" sz="half" idx="2"/>
          </p:nvPr>
        </p:nvSpPr>
        <p:spPr>
          <a:xfrm>
            <a:off x="457201" y="2130554"/>
            <a:ext cx="2139696" cy="4243615"/>
          </a:xfrm>
        </p:spPr>
        <p:txBody>
          <a:bodyPr/>
          <a:lstStyle>
            <a:lvl1pPr marL="0" indent="0">
              <a:buNone/>
              <a:defRPr sz="1400" baseline="0">
                <a:ea typeface="NanumMyeongjo" panose="02020603020101020101" pitchFamily="18" charset="-127"/>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dirty="0"/>
              <a:t>마스터 텍스트 스타일을 편집합니다</a:t>
            </a:r>
          </a:p>
        </p:txBody>
      </p:sp>
      <p:sp>
        <p:nvSpPr>
          <p:cNvPr id="5" name="Date Placeholder 4"/>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8D70C893-AE5D-47E5-9ECD-7B03BA21ED09}" type="slidenum">
              <a:rPr lang="ko-KR" altLang="en-US" smtClean="0"/>
              <a:t>‹#›</a:t>
            </a:fld>
            <a:endParaRPr lang="ko-KR" altLang="en-US"/>
          </a:p>
        </p:txBody>
      </p:sp>
      <p:cxnSp>
        <p:nvCxnSpPr>
          <p:cNvPr id="9" name="Straight Connector 8"/>
          <p:cNvCxnSpPr/>
          <p:nvPr/>
        </p:nvCxnSpPr>
        <p:spPr>
          <a:xfrm rot="5400000">
            <a:off x="-13116" y="3580207"/>
            <a:ext cx="557784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3657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57201" y="792480"/>
            <a:ext cx="2142680" cy="1264920"/>
          </a:xfrm>
        </p:spPr>
        <p:txBody>
          <a:bodyPr anchor="b">
            <a:normAutofit/>
          </a:bodyPr>
          <a:lstStyle>
            <a:lvl1pPr algn="l">
              <a:defRPr sz="2400" b="0"/>
            </a:lvl1pPr>
          </a:lstStyle>
          <a:p>
            <a:r>
              <a:rPr lang="ko-KR" altLang="en-US"/>
              <a:t>마스터 제목 스타일 편집</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Date Placeholder 4"/>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893949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a:p>
        </p:txBody>
      </p:sp>
      <p:sp>
        <p:nvSpPr>
          <p:cNvPr id="3" name="Vertical Text Placeholder 2"/>
          <p:cNvSpPr>
            <a:spLocks noGrp="1"/>
          </p:cNvSpPr>
          <p:nvPr>
            <p:ph type="body" orient="vert" idx="1"/>
          </p:nvPr>
        </p:nvSpPr>
        <p:spPr/>
        <p:txBody>
          <a:bodyPr vert="eaVert"/>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4" name="Date Placeholder 3"/>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29502982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dirty="0"/>
          </a:p>
        </p:txBody>
      </p:sp>
      <p:sp>
        <p:nvSpPr>
          <p:cNvPr id="4" name="Date Placeholder 3"/>
          <p:cNvSpPr>
            <a:spLocks noGrp="1"/>
          </p:cNvSpPr>
          <p:nvPr>
            <p:ph type="dt" sz="half" idx="10"/>
          </p:nvPr>
        </p:nvSpPr>
        <p:spPr/>
        <p:txBody>
          <a:bodyPr/>
          <a:lstStyle/>
          <a:p>
            <a:fld id="{511F6B55-38DE-4DD5-B154-5C6399E42A62}" type="datetimeFigureOut">
              <a:rPr lang="ko-KR" altLang="en-US" smtClean="0"/>
              <a:t>2026. 7. 2.</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8D70C893-AE5D-47E5-9ECD-7B03BA21ED09}" type="slidenum">
              <a:rPr lang="ko-KR" altLang="en-US" smtClean="0"/>
              <a:t>‹#›</a:t>
            </a:fld>
            <a:endParaRPr lang="ko-KR" altLang="en-US"/>
          </a:p>
        </p:txBody>
      </p:sp>
    </p:spTree>
    <p:extLst>
      <p:ext uri="{BB962C8B-B14F-4D97-AF65-F5344CB8AC3E}">
        <p14:creationId xmlns:p14="http://schemas.microsoft.com/office/powerpoint/2010/main" val="23983217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휴먼옛체" panose="02030504000101010101" pitchFamily="18" charset="-127"/>
            </a:endParaRPr>
          </a:p>
        </p:txBody>
      </p:sp>
      <p:sp>
        <p:nvSpPr>
          <p:cNvPr id="2" name="Title Placeholder 1"/>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ko-KR" altLang="en-US" dirty="0"/>
              <a:t>마스터 제목 스타일 편집</a:t>
            </a:r>
            <a:endParaRPr lang="en-US" dirty="0"/>
          </a:p>
        </p:txBody>
      </p:sp>
      <p:sp>
        <p:nvSpPr>
          <p:cNvPr id="3" name="Text Placeholder 2"/>
          <p:cNvSpPr>
            <a:spLocks noGrp="1"/>
          </p:cNvSpPr>
          <p:nvPr>
            <p:ph type="body" idx="1"/>
          </p:nvPr>
        </p:nvSpPr>
        <p:spPr>
          <a:xfrm>
            <a:off x="457200" y="1600200"/>
            <a:ext cx="8229600" cy="4876800"/>
          </a:xfrm>
          <a:prstGeom prst="rect">
            <a:avLst/>
          </a:prstGeom>
        </p:spPr>
        <p:txBody>
          <a:bodyPr vert="horz" lIns="91440" tIns="45720" rIns="91440" bIns="45720"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endParaRPr lang="en-US" dirty="0"/>
          </a:p>
        </p:txBody>
      </p:sp>
      <p:sp>
        <p:nvSpPr>
          <p:cNvPr id="7" name="Rectangle 6"/>
          <p:cNvSpPr/>
          <p:nvPr/>
        </p:nvSpPr>
        <p:spPr>
          <a:xfrm>
            <a:off x="0" y="0"/>
            <a:ext cx="9144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latin typeface="휴먼옛체" panose="02030504000101010101" pitchFamily="18" charset="-127"/>
            </a:endParaRPr>
          </a:p>
        </p:txBody>
      </p:sp>
      <p:sp>
        <p:nvSpPr>
          <p:cNvPr id="4" name="Date Placeholder 3"/>
          <p:cNvSpPr>
            <a:spLocks noGrp="1"/>
          </p:cNvSpPr>
          <p:nvPr>
            <p:ph type="dt" sz="half" idx="2"/>
          </p:nvPr>
        </p:nvSpPr>
        <p:spPr>
          <a:xfrm>
            <a:off x="457200" y="18288"/>
            <a:ext cx="2895600" cy="329184"/>
          </a:xfrm>
          <a:prstGeom prst="rect">
            <a:avLst/>
          </a:prstGeom>
        </p:spPr>
        <p:txBody>
          <a:bodyPr vert="horz" lIns="91440" tIns="45720" rIns="91440" bIns="45720" rtlCol="0" anchor="ctr"/>
          <a:lstStyle>
            <a:lvl1pPr algn="l">
              <a:defRPr sz="1200">
                <a:solidFill>
                  <a:srgbClr val="FFFFFF"/>
                </a:solidFill>
                <a:latin typeface="휴먼옛체" panose="02030504000101010101" pitchFamily="18" charset="-127"/>
              </a:defRPr>
            </a:lvl1pPr>
          </a:lstStyle>
          <a:p>
            <a:fld id="{511F6B55-38DE-4DD5-B154-5C6399E42A62}" type="datetimeFigureOut">
              <a:rPr lang="ko-KR" altLang="en-US" smtClean="0"/>
              <a:pPr/>
              <a:t>2026. 7. 2.</a:t>
            </a:fld>
            <a:endParaRPr lang="ko-KR" altLang="en-US" dirty="0"/>
          </a:p>
        </p:txBody>
      </p:sp>
      <p:sp>
        <p:nvSpPr>
          <p:cNvPr id="5" name="Footer Placeholder 4"/>
          <p:cNvSpPr>
            <a:spLocks noGrp="1"/>
          </p:cNvSpPr>
          <p:nvPr>
            <p:ph type="ftr" sz="quarter" idx="3"/>
          </p:nvPr>
        </p:nvSpPr>
        <p:spPr>
          <a:xfrm>
            <a:off x="3429000" y="18288"/>
            <a:ext cx="4114800" cy="329184"/>
          </a:xfrm>
          <a:prstGeom prst="rect">
            <a:avLst/>
          </a:prstGeom>
        </p:spPr>
        <p:txBody>
          <a:bodyPr vert="horz" lIns="91440" tIns="45720" rIns="91440" bIns="45720" rtlCol="0" anchor="ctr"/>
          <a:lstStyle>
            <a:lvl1pPr algn="ctr">
              <a:defRPr sz="1200">
                <a:solidFill>
                  <a:srgbClr val="FFFFFF"/>
                </a:solidFill>
                <a:latin typeface="휴먼옛체" panose="02030504000101010101" pitchFamily="18" charset="-127"/>
              </a:defRPr>
            </a:lvl1pPr>
          </a:lstStyle>
          <a:p>
            <a:endParaRPr lang="ko-KR" altLang="en-US" dirty="0"/>
          </a:p>
        </p:txBody>
      </p:sp>
      <p:sp>
        <p:nvSpPr>
          <p:cNvPr id="6" name="Slide Number Placeholder 5"/>
          <p:cNvSpPr>
            <a:spLocks noGrp="1"/>
          </p:cNvSpPr>
          <p:nvPr>
            <p:ph type="sldNum" sz="quarter" idx="4"/>
          </p:nvPr>
        </p:nvSpPr>
        <p:spPr>
          <a:xfrm>
            <a:off x="7620000" y="18288"/>
            <a:ext cx="1066800" cy="329184"/>
          </a:xfrm>
          <a:prstGeom prst="rect">
            <a:avLst/>
          </a:prstGeom>
        </p:spPr>
        <p:txBody>
          <a:bodyPr vert="horz" lIns="91440" tIns="45720" rIns="91440" bIns="45720" rtlCol="0" anchor="ctr"/>
          <a:lstStyle>
            <a:lvl1pPr algn="l">
              <a:defRPr sz="1400" b="1">
                <a:solidFill>
                  <a:srgbClr val="FFFFFF"/>
                </a:solidFill>
                <a:latin typeface="휴먼옛체" panose="02030504000101010101" pitchFamily="18" charset="-127"/>
              </a:defRPr>
            </a:lvl1pPr>
          </a:lstStyle>
          <a:p>
            <a:fld id="{8D70C893-AE5D-47E5-9ECD-7B03BA21ED09}" type="slidenum">
              <a:rPr lang="ko-KR" altLang="en-US" smtClean="0"/>
              <a:pPr/>
              <a:t>‹#›</a:t>
            </a:fld>
            <a:endParaRPr lang="ko-KR" altLang="en-US" dirty="0"/>
          </a:p>
        </p:txBody>
      </p:sp>
    </p:spTree>
    <p:extLst>
      <p:ext uri="{BB962C8B-B14F-4D97-AF65-F5344CB8AC3E}">
        <p14:creationId xmlns:p14="http://schemas.microsoft.com/office/powerpoint/2010/main" val="22277686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defTabSz="914400" rtl="0" eaLnBrk="1" latinLnBrk="1" hangingPunct="1">
        <a:spcBef>
          <a:spcPct val="0"/>
        </a:spcBef>
        <a:buNone/>
        <a:defRPr sz="4000" kern="1200" spc="-100" baseline="0">
          <a:solidFill>
            <a:srgbClr val="2F3192"/>
          </a:solidFill>
          <a:latin typeface="Times New Roman" panose="02020603050405020304" pitchFamily="18" charset="0"/>
          <a:ea typeface="NanumMyeongjo" panose="02020603020101020101" pitchFamily="18" charset="-127"/>
          <a:cs typeface="+mj-cs"/>
        </a:defRPr>
      </a:lvl1pPr>
    </p:titleStyle>
    <p:bodyStyle>
      <a:lvl1pPr marL="182880" indent="-182880" algn="l" defTabSz="914400" rtl="0" eaLnBrk="1" latinLnBrk="1" hangingPunct="1">
        <a:spcBef>
          <a:spcPct val="20000"/>
        </a:spcBef>
        <a:buClr>
          <a:schemeClr val="accent1"/>
        </a:buClr>
        <a:buSzPct val="85000"/>
        <a:buFont typeface="Arial" pitchFamily="34" charset="0"/>
        <a:buChar char="•"/>
        <a:defRPr sz="2400" kern="1200">
          <a:solidFill>
            <a:schemeClr val="tx1"/>
          </a:solidFill>
          <a:latin typeface="Times New Roman" panose="02020603050405020304" pitchFamily="18" charset="0"/>
          <a:ea typeface="NanumMyeongjo" panose="02020603020101020101" pitchFamily="18" charset="-127"/>
          <a:cs typeface="+mn-cs"/>
        </a:defRPr>
      </a:lvl1pPr>
      <a:lvl2pPr marL="457200" indent="-182880" algn="l" defTabSz="914400" rtl="0" eaLnBrk="1" latinLnBrk="1" hangingPunct="1">
        <a:spcBef>
          <a:spcPct val="20000"/>
        </a:spcBef>
        <a:buClr>
          <a:schemeClr val="accent1"/>
        </a:buClr>
        <a:buSzPct val="85000"/>
        <a:buFont typeface="Arial" pitchFamily="34" charset="0"/>
        <a:buChar char="•"/>
        <a:defRPr sz="2000" kern="1200">
          <a:solidFill>
            <a:schemeClr val="tx1"/>
          </a:solidFill>
          <a:latin typeface="Times New Roman" panose="02020603050405020304" pitchFamily="18" charset="0"/>
          <a:ea typeface="NanumMyeongjo" panose="02020603020101020101" pitchFamily="18" charset="-127"/>
          <a:cs typeface="+mn-cs"/>
        </a:defRPr>
      </a:lvl2pPr>
      <a:lvl3pPr marL="731520" indent="-182880" algn="l" defTabSz="914400" rtl="0" eaLnBrk="1" latinLnBrk="1" hangingPunct="1">
        <a:spcBef>
          <a:spcPct val="20000"/>
        </a:spcBef>
        <a:buClr>
          <a:schemeClr val="accent1"/>
        </a:buClr>
        <a:buSzPct val="90000"/>
        <a:buFont typeface="Arial" pitchFamily="34" charset="0"/>
        <a:buChar char="•"/>
        <a:defRPr sz="1800" kern="1200">
          <a:solidFill>
            <a:schemeClr val="tx1"/>
          </a:solidFill>
          <a:latin typeface="Times New Roman" panose="02020603050405020304" pitchFamily="18" charset="0"/>
          <a:ea typeface="NanumMyeongjo" panose="02020603020101020101" pitchFamily="18" charset="-127"/>
          <a:cs typeface="+mn-cs"/>
        </a:defRPr>
      </a:lvl3pPr>
      <a:lvl4pPr marL="1005840" indent="-182880" algn="l" defTabSz="914400" rtl="0" eaLnBrk="1" latinLnBrk="1" hangingPunct="1">
        <a:spcBef>
          <a:spcPct val="20000"/>
        </a:spcBef>
        <a:buClr>
          <a:schemeClr val="accent1"/>
        </a:buClr>
        <a:buFont typeface="Arial" pitchFamily="34" charset="0"/>
        <a:buChar char="•"/>
        <a:defRPr sz="1600" kern="1200">
          <a:solidFill>
            <a:schemeClr val="tx1"/>
          </a:solidFill>
          <a:latin typeface="Times New Roman" panose="02020603050405020304" pitchFamily="18" charset="0"/>
          <a:ea typeface="NanumMyeongjo" panose="02020603020101020101" pitchFamily="18" charset="-127"/>
          <a:cs typeface="+mn-cs"/>
        </a:defRPr>
      </a:lvl4pPr>
      <a:lvl5pPr marL="1188720" indent="-137160" algn="l" defTabSz="914400" rtl="0" eaLnBrk="1" latinLnBrk="1" hangingPunct="1">
        <a:spcBef>
          <a:spcPct val="20000"/>
        </a:spcBef>
        <a:buClr>
          <a:schemeClr val="accent1"/>
        </a:buClr>
        <a:buSzPct val="100000"/>
        <a:buFont typeface="Arial" pitchFamily="34" charset="0"/>
        <a:buChar char="•"/>
        <a:defRPr sz="1400" kern="1200" baseline="0">
          <a:solidFill>
            <a:schemeClr val="tx1"/>
          </a:solidFill>
          <a:latin typeface="Times New Roman" panose="02020603050405020304" pitchFamily="18" charset="0"/>
          <a:ea typeface="NanumMyeongjo" panose="02020603020101020101" pitchFamily="18" charset="-127"/>
          <a:cs typeface="+mn-cs"/>
        </a:defRPr>
      </a:lvl5pPr>
      <a:lvl6pPr marL="1371600" indent="-182880" algn="l" defTabSz="914400" rtl="0" eaLnBrk="1" latinLnBrk="1"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1"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1"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1"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17tqXgvCN0E?feature=oembe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제목 3"/>
          <p:cNvSpPr>
            <a:spLocks noGrp="1"/>
          </p:cNvSpPr>
          <p:nvPr>
            <p:ph type="title"/>
          </p:nvPr>
        </p:nvSpPr>
        <p:spPr>
          <a:xfrm>
            <a:off x="632178" y="2362201"/>
            <a:ext cx="7862535" cy="2200275"/>
          </a:xfrm>
        </p:spPr>
        <p:txBody>
          <a:bodyPr>
            <a:normAutofit/>
          </a:bodyPr>
          <a:lstStyle/>
          <a:p>
            <a:r>
              <a:rPr lang="en" altLang="ko-Kore-KR" dirty="0"/>
              <a:t>Resonance and Impulse </a:t>
            </a:r>
            <a:br>
              <a:rPr lang="en" altLang="ko-Kore-KR" dirty="0"/>
            </a:br>
            <a:r>
              <a:rPr lang="en" altLang="ko-Kore-KR" dirty="0"/>
              <a:t>Reaction</a:t>
            </a:r>
          </a:p>
        </p:txBody>
      </p:sp>
      <p:sp>
        <p:nvSpPr>
          <p:cNvPr id="5" name="텍스트 개체 틀 4"/>
          <p:cNvSpPr>
            <a:spLocks noGrp="1"/>
          </p:cNvSpPr>
          <p:nvPr>
            <p:ph type="body" idx="1"/>
          </p:nvPr>
        </p:nvSpPr>
        <p:spPr/>
        <p:txBody>
          <a:bodyPr/>
          <a:lstStyle/>
          <a:p>
            <a:r>
              <a:rPr lang="en-US" altLang="ko-KR" dirty="0">
                <a:solidFill>
                  <a:schemeClr val="tx1"/>
                </a:solidFill>
              </a:rPr>
              <a:t>Jason Park</a:t>
            </a:r>
            <a:endParaRPr lang="ko-KR" altLang="en-US" dirty="0">
              <a:solidFill>
                <a:schemeClr val="tx1"/>
              </a:solidFill>
            </a:endParaRPr>
          </a:p>
        </p:txBody>
      </p:sp>
    </p:spTree>
    <p:extLst>
      <p:ext uri="{BB962C8B-B14F-4D97-AF65-F5344CB8AC3E}">
        <p14:creationId xmlns:p14="http://schemas.microsoft.com/office/powerpoint/2010/main" val="399554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869F0-2AD4-0935-4184-02C65E159859}"/>
              </a:ext>
            </a:extLst>
          </p:cNvPr>
          <p:cNvSpPr>
            <a:spLocks noGrp="1"/>
          </p:cNvSpPr>
          <p:nvPr>
            <p:ph type="title"/>
          </p:nvPr>
        </p:nvSpPr>
        <p:spPr/>
        <p:txBody>
          <a:bodyPr/>
          <a:lstStyle/>
          <a:p>
            <a:r>
              <a:rPr lang="en-US" dirty="0"/>
              <a:t>Breaking Glass with only Sound</a:t>
            </a:r>
          </a:p>
        </p:txBody>
      </p:sp>
      <p:pic>
        <p:nvPicPr>
          <p:cNvPr id="4" name="Online Media 3" descr="breaking a wine glass using resonance">
            <a:hlinkClick r:id="" action="ppaction://media"/>
            <a:extLst>
              <a:ext uri="{FF2B5EF4-FFF2-40B4-BE49-F238E27FC236}">
                <a16:creationId xmlns:a16="http://schemas.microsoft.com/office/drawing/2014/main" id="{177C28E5-26BF-866E-FB75-F033E1A99723}"/>
              </a:ext>
            </a:extLst>
          </p:cNvPr>
          <p:cNvPicPr>
            <a:picLocks noGrp="1" noRot="1" noChangeAspect="1"/>
          </p:cNvPicPr>
          <p:nvPr>
            <p:ph idx="1"/>
            <a:videoFile r:link="rId1"/>
          </p:nvPr>
        </p:nvPicPr>
        <p:blipFill>
          <a:blip r:embed="rId3"/>
          <a:stretch>
            <a:fillRect/>
          </a:stretch>
        </p:blipFill>
        <p:spPr>
          <a:xfrm>
            <a:off x="1320800" y="1600200"/>
            <a:ext cx="6502400" cy="4876800"/>
          </a:xfrm>
          <a:prstGeom prst="rect">
            <a:avLst/>
          </a:prstGeom>
        </p:spPr>
      </p:pic>
    </p:spTree>
    <p:extLst>
      <p:ext uri="{BB962C8B-B14F-4D97-AF65-F5344CB8AC3E}">
        <p14:creationId xmlns:p14="http://schemas.microsoft.com/office/powerpoint/2010/main" val="574262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B0D212-7A8C-51BE-2F6F-A907725F7639}"/>
              </a:ext>
            </a:extLst>
          </p:cNvPr>
          <p:cNvSpPr>
            <a:spLocks noGrp="1"/>
          </p:cNvSpPr>
          <p:nvPr>
            <p:ph idx="1"/>
          </p:nvPr>
        </p:nvSpPr>
        <p:spPr/>
        <p:txBody>
          <a:bodyPr/>
          <a:lstStyle/>
          <a:p>
            <a:pPr>
              <a:lnSpc>
                <a:spcPct val="100000"/>
              </a:lnSpc>
            </a:pPr>
            <a:r>
              <a:rPr lang="en-US" dirty="0"/>
              <a:t>There was no physical interaction. How did sound break a glass?</a:t>
            </a:r>
          </a:p>
        </p:txBody>
      </p:sp>
    </p:spTree>
    <p:extLst>
      <p:ext uri="{BB962C8B-B14F-4D97-AF65-F5344CB8AC3E}">
        <p14:creationId xmlns:p14="http://schemas.microsoft.com/office/powerpoint/2010/main" val="3137831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6B4A2F-2A57-3E64-AFA0-1F9D0C3599F3}"/>
              </a:ext>
            </a:extLst>
          </p:cNvPr>
          <p:cNvSpPr>
            <a:spLocks noGrp="1"/>
          </p:cNvSpPr>
          <p:nvPr>
            <p:ph idx="1"/>
          </p:nvPr>
        </p:nvSpPr>
        <p:spPr/>
        <p:txBody>
          <a:bodyPr/>
          <a:lstStyle/>
          <a:p>
            <a:r>
              <a:rPr lang="en-US" dirty="0"/>
              <a:t>The answer is related to the frequency of sound.</a:t>
            </a:r>
          </a:p>
          <a:p>
            <a:r>
              <a:rPr lang="en-US" dirty="0"/>
              <a:t>What is that specific frequency and how do we find it?</a:t>
            </a:r>
          </a:p>
        </p:txBody>
      </p:sp>
    </p:spTree>
    <p:extLst>
      <p:ext uri="{BB962C8B-B14F-4D97-AF65-F5344CB8AC3E}">
        <p14:creationId xmlns:p14="http://schemas.microsoft.com/office/powerpoint/2010/main" val="1775288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F6783-97B0-59B8-9B8C-3B3C25282A1D}"/>
              </a:ext>
            </a:extLst>
          </p:cNvPr>
          <p:cNvSpPr>
            <a:spLocks noGrp="1"/>
          </p:cNvSpPr>
          <p:nvPr>
            <p:ph type="title"/>
          </p:nvPr>
        </p:nvSpPr>
        <p:spPr/>
        <p:txBody>
          <a:bodyPr/>
          <a:lstStyle/>
          <a:p>
            <a:r>
              <a:rPr lang="en-US" dirty="0"/>
              <a:t>Resonance</a:t>
            </a:r>
          </a:p>
        </p:txBody>
      </p:sp>
      <p:sp>
        <p:nvSpPr>
          <p:cNvPr id="3" name="Text Placeholder 2">
            <a:extLst>
              <a:ext uri="{FF2B5EF4-FFF2-40B4-BE49-F238E27FC236}">
                <a16:creationId xmlns:a16="http://schemas.microsoft.com/office/drawing/2014/main" id="{30416814-AC31-8130-2B1E-F824866221F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0079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5FD8-97F0-7E93-7B2A-CACD98197839}"/>
              </a:ext>
            </a:extLst>
          </p:cNvPr>
          <p:cNvSpPr>
            <a:spLocks noGrp="1"/>
          </p:cNvSpPr>
          <p:nvPr>
            <p:ph type="title"/>
          </p:nvPr>
        </p:nvSpPr>
        <p:spPr/>
        <p:txBody>
          <a:bodyPr/>
          <a:lstStyle/>
          <a:p>
            <a:r>
              <a:rPr lang="en-US" dirty="0"/>
              <a:t>RLC Circuit</a:t>
            </a:r>
          </a:p>
        </p:txBody>
      </p:sp>
      <p:sp>
        <p:nvSpPr>
          <p:cNvPr id="3" name="Content Placeholder 2">
            <a:extLst>
              <a:ext uri="{FF2B5EF4-FFF2-40B4-BE49-F238E27FC236}">
                <a16:creationId xmlns:a16="http://schemas.microsoft.com/office/drawing/2014/main" id="{89428CCD-C264-8B5F-B425-EBC233C51742}"/>
              </a:ext>
            </a:extLst>
          </p:cNvPr>
          <p:cNvSpPr>
            <a:spLocks noGrp="1"/>
          </p:cNvSpPr>
          <p:nvPr>
            <p:ph idx="1"/>
          </p:nvPr>
        </p:nvSpPr>
        <p:spPr/>
        <p:txBody>
          <a:bodyPr/>
          <a:lstStyle/>
          <a:p>
            <a:r>
              <a:rPr lang="en-US" dirty="0"/>
              <a:t>(Circuit Photo)</a:t>
            </a:r>
          </a:p>
          <a:p>
            <a:endParaRPr lang="en-US" dirty="0"/>
          </a:p>
          <a:p>
            <a:r>
              <a:rPr lang="en-US" dirty="0"/>
              <a:t>R = 100</a:t>
            </a:r>
          </a:p>
          <a:p>
            <a:r>
              <a:rPr lang="en-US" dirty="0"/>
              <a:t>L = 10mH</a:t>
            </a:r>
          </a:p>
          <a:p>
            <a:r>
              <a:rPr lang="en-US" dirty="0"/>
              <a:t>C = 0.1uF</a:t>
            </a:r>
          </a:p>
        </p:txBody>
      </p:sp>
    </p:spTree>
    <p:extLst>
      <p:ext uri="{BB962C8B-B14F-4D97-AF65-F5344CB8AC3E}">
        <p14:creationId xmlns:p14="http://schemas.microsoft.com/office/powerpoint/2010/main" val="28060817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93198-32B7-E1E6-114C-108C4A250C72}"/>
              </a:ext>
            </a:extLst>
          </p:cNvPr>
          <p:cNvSpPr>
            <a:spLocks noGrp="1"/>
          </p:cNvSpPr>
          <p:nvPr>
            <p:ph type="title"/>
          </p:nvPr>
        </p:nvSpPr>
        <p:spPr/>
        <p:txBody>
          <a:bodyPr/>
          <a:lstStyle/>
          <a:p>
            <a:r>
              <a:rPr lang="en-US" dirty="0"/>
              <a:t>'Special frequency’ of the circuit</a:t>
            </a:r>
          </a:p>
        </p:txBody>
      </p:sp>
      <p:sp>
        <p:nvSpPr>
          <p:cNvPr id="3" name="Content Placeholder 2">
            <a:extLst>
              <a:ext uri="{FF2B5EF4-FFF2-40B4-BE49-F238E27FC236}">
                <a16:creationId xmlns:a16="http://schemas.microsoft.com/office/drawing/2014/main" id="{68E991C7-0348-744C-8E39-E1C2490EB702}"/>
              </a:ext>
            </a:extLst>
          </p:cNvPr>
          <p:cNvSpPr>
            <a:spLocks noGrp="1"/>
          </p:cNvSpPr>
          <p:nvPr>
            <p:ph idx="1"/>
          </p:nvPr>
        </p:nvSpPr>
        <p:spPr/>
        <p:txBody>
          <a:bodyPr/>
          <a:lstStyle/>
          <a:p>
            <a:r>
              <a:rPr lang="en-US" dirty="0"/>
              <a:t>The frequency value we wanted to find is 5033 Hz in the circuit.</a:t>
            </a:r>
          </a:p>
          <a:p>
            <a:r>
              <a:rPr lang="en-US" dirty="0"/>
              <a:t>What is the difference between it and other </a:t>
            </a:r>
            <a:r>
              <a:rPr lang="en-US" dirty="0" err="1"/>
              <a:t>frequnecies</a:t>
            </a:r>
            <a:r>
              <a:rPr lang="en-US" dirty="0"/>
              <a:t>?</a:t>
            </a:r>
          </a:p>
          <a:p>
            <a:pPr lvl="1"/>
            <a:r>
              <a:rPr lang="en-US" dirty="0"/>
              <a:t>To find it, we are </a:t>
            </a:r>
            <a:r>
              <a:rPr lang="en-US" dirty="0" err="1"/>
              <a:t>gonna</a:t>
            </a:r>
            <a:r>
              <a:rPr lang="en-US" dirty="0"/>
              <a:t> actually put a sinusoidal voltage source to the </a:t>
            </a:r>
            <a:br>
              <a:rPr lang="en-US" dirty="0"/>
            </a:br>
            <a:r>
              <a:rPr lang="en-US" dirty="0"/>
              <a:t>circuit.</a:t>
            </a:r>
          </a:p>
        </p:txBody>
      </p:sp>
    </p:spTree>
    <p:extLst>
      <p:ext uri="{BB962C8B-B14F-4D97-AF65-F5344CB8AC3E}">
        <p14:creationId xmlns:p14="http://schemas.microsoft.com/office/powerpoint/2010/main" val="3515491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68BCE960-99E4-5845-4E68-A5183486009C}"/>
              </a:ext>
            </a:extLst>
          </p:cNvPr>
          <p:cNvPicPr>
            <a:picLocks noGrp="1" noChangeAspect="1"/>
          </p:cNvPicPr>
          <p:nvPr>
            <p:ph idx="1"/>
          </p:nvPr>
        </p:nvPicPr>
        <p:blipFill>
          <a:blip r:embed="rId2"/>
          <a:stretch>
            <a:fillRect/>
          </a:stretch>
        </p:blipFill>
        <p:spPr>
          <a:xfrm>
            <a:off x="710451" y="2576049"/>
            <a:ext cx="8229600" cy="1864518"/>
          </a:xfrm>
          <a:prstGeom prst="rect">
            <a:avLst/>
          </a:prstGeom>
        </p:spPr>
      </p:pic>
      <p:pic>
        <p:nvPicPr>
          <p:cNvPr id="4" name="Picture 3">
            <a:extLst>
              <a:ext uri="{FF2B5EF4-FFF2-40B4-BE49-F238E27FC236}">
                <a16:creationId xmlns:a16="http://schemas.microsoft.com/office/drawing/2014/main" id="{544FE45B-D71A-5009-8E99-31608C1EF398}"/>
              </a:ext>
            </a:extLst>
          </p:cNvPr>
          <p:cNvPicPr>
            <a:picLocks noChangeAspect="1"/>
          </p:cNvPicPr>
          <p:nvPr/>
        </p:nvPicPr>
        <p:blipFill>
          <a:blip r:embed="rId3"/>
          <a:stretch>
            <a:fillRect/>
          </a:stretch>
        </p:blipFill>
        <p:spPr>
          <a:xfrm>
            <a:off x="710451" y="511379"/>
            <a:ext cx="8229599" cy="1864519"/>
          </a:xfrm>
          <a:prstGeom prst="rect">
            <a:avLst/>
          </a:prstGeom>
        </p:spPr>
      </p:pic>
      <p:pic>
        <p:nvPicPr>
          <p:cNvPr id="5" name="Picture 4">
            <a:extLst>
              <a:ext uri="{FF2B5EF4-FFF2-40B4-BE49-F238E27FC236}">
                <a16:creationId xmlns:a16="http://schemas.microsoft.com/office/drawing/2014/main" id="{E522CFE1-9F10-E33F-D825-159D42BD76CA}"/>
              </a:ext>
            </a:extLst>
          </p:cNvPr>
          <p:cNvPicPr>
            <a:picLocks noChangeAspect="1"/>
          </p:cNvPicPr>
          <p:nvPr/>
        </p:nvPicPr>
        <p:blipFill>
          <a:blip r:embed="rId4"/>
          <a:stretch>
            <a:fillRect/>
          </a:stretch>
        </p:blipFill>
        <p:spPr>
          <a:xfrm>
            <a:off x="710450" y="4640718"/>
            <a:ext cx="8229600" cy="1864519"/>
          </a:xfrm>
          <a:prstGeom prst="rect">
            <a:avLst/>
          </a:prstGeom>
        </p:spPr>
      </p:pic>
      <p:sp>
        <p:nvSpPr>
          <p:cNvPr id="6" name="TextBox 5">
            <a:extLst>
              <a:ext uri="{FF2B5EF4-FFF2-40B4-BE49-F238E27FC236}">
                <a16:creationId xmlns:a16="http://schemas.microsoft.com/office/drawing/2014/main" id="{0BF8DB15-CE64-50E5-F648-C7DBBDD32602}"/>
              </a:ext>
            </a:extLst>
          </p:cNvPr>
          <p:cNvSpPr txBox="1"/>
          <p:nvPr/>
        </p:nvSpPr>
        <p:spPr>
          <a:xfrm>
            <a:off x="-22418" y="1250773"/>
            <a:ext cx="479618" cy="369332"/>
          </a:xfrm>
          <a:prstGeom prst="rect">
            <a:avLst/>
          </a:prstGeom>
          <a:noFill/>
        </p:spPr>
        <p:txBody>
          <a:bodyPr wrap="none" rtlCol="0">
            <a:spAutoFit/>
          </a:bodyPr>
          <a:lstStyle/>
          <a:p>
            <a:r>
              <a:rPr lang="en-US" dirty="0"/>
              <a:t>1k:</a:t>
            </a:r>
          </a:p>
        </p:txBody>
      </p:sp>
      <p:sp>
        <p:nvSpPr>
          <p:cNvPr id="7" name="TextBox 6">
            <a:extLst>
              <a:ext uri="{FF2B5EF4-FFF2-40B4-BE49-F238E27FC236}">
                <a16:creationId xmlns:a16="http://schemas.microsoft.com/office/drawing/2014/main" id="{E0E3E64E-F1BD-A718-4BCB-4B60D1074F42}"/>
              </a:ext>
            </a:extLst>
          </p:cNvPr>
          <p:cNvSpPr txBox="1"/>
          <p:nvPr/>
        </p:nvSpPr>
        <p:spPr>
          <a:xfrm>
            <a:off x="0" y="3323642"/>
            <a:ext cx="479618" cy="369332"/>
          </a:xfrm>
          <a:prstGeom prst="rect">
            <a:avLst/>
          </a:prstGeom>
          <a:noFill/>
        </p:spPr>
        <p:txBody>
          <a:bodyPr wrap="none" rtlCol="0">
            <a:spAutoFit/>
          </a:bodyPr>
          <a:lstStyle/>
          <a:p>
            <a:r>
              <a:rPr lang="en-US" dirty="0"/>
              <a:t>5k:</a:t>
            </a:r>
          </a:p>
        </p:txBody>
      </p:sp>
      <p:sp>
        <p:nvSpPr>
          <p:cNvPr id="8" name="TextBox 7">
            <a:extLst>
              <a:ext uri="{FF2B5EF4-FFF2-40B4-BE49-F238E27FC236}">
                <a16:creationId xmlns:a16="http://schemas.microsoft.com/office/drawing/2014/main" id="{5F61EB86-8281-FFD2-6558-B91E0F9F8F6E}"/>
              </a:ext>
            </a:extLst>
          </p:cNvPr>
          <p:cNvSpPr txBox="1"/>
          <p:nvPr/>
        </p:nvSpPr>
        <p:spPr>
          <a:xfrm>
            <a:off x="0" y="5572977"/>
            <a:ext cx="595035" cy="369332"/>
          </a:xfrm>
          <a:prstGeom prst="rect">
            <a:avLst/>
          </a:prstGeom>
          <a:noFill/>
        </p:spPr>
        <p:txBody>
          <a:bodyPr wrap="none" rtlCol="0">
            <a:spAutoFit/>
          </a:bodyPr>
          <a:lstStyle/>
          <a:p>
            <a:r>
              <a:rPr lang="en-US" dirty="0"/>
              <a:t>10k:</a:t>
            </a:r>
          </a:p>
        </p:txBody>
      </p:sp>
      <p:sp>
        <p:nvSpPr>
          <p:cNvPr id="2" name="Rounded Rectangle 1">
            <a:extLst>
              <a:ext uri="{FF2B5EF4-FFF2-40B4-BE49-F238E27FC236}">
                <a16:creationId xmlns:a16="http://schemas.microsoft.com/office/drawing/2014/main" id="{E6499DC1-0710-636A-760A-F07BAB002F8C}"/>
              </a:ext>
            </a:extLst>
          </p:cNvPr>
          <p:cNvSpPr/>
          <p:nvPr/>
        </p:nvSpPr>
        <p:spPr>
          <a:xfrm>
            <a:off x="6669024" y="670560"/>
            <a:ext cx="1219200" cy="7071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0.6mA</a:t>
            </a:r>
          </a:p>
        </p:txBody>
      </p:sp>
      <p:sp>
        <p:nvSpPr>
          <p:cNvPr id="9" name="Rounded Rectangle 8">
            <a:extLst>
              <a:ext uri="{FF2B5EF4-FFF2-40B4-BE49-F238E27FC236}">
                <a16:creationId xmlns:a16="http://schemas.microsoft.com/office/drawing/2014/main" id="{85CB01C3-F895-DBA4-0C50-5F43FF4024CD}"/>
              </a:ext>
            </a:extLst>
          </p:cNvPr>
          <p:cNvSpPr/>
          <p:nvPr/>
        </p:nvSpPr>
        <p:spPr>
          <a:xfrm>
            <a:off x="6669024" y="2801172"/>
            <a:ext cx="1219200" cy="7071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10mA</a:t>
            </a:r>
          </a:p>
        </p:txBody>
      </p:sp>
      <p:sp>
        <p:nvSpPr>
          <p:cNvPr id="10" name="Rounded Rectangle 9">
            <a:extLst>
              <a:ext uri="{FF2B5EF4-FFF2-40B4-BE49-F238E27FC236}">
                <a16:creationId xmlns:a16="http://schemas.microsoft.com/office/drawing/2014/main" id="{5ABA3F50-7336-8CCC-1782-6A15C79C9CE2}"/>
              </a:ext>
            </a:extLst>
          </p:cNvPr>
          <p:cNvSpPr/>
          <p:nvPr/>
        </p:nvSpPr>
        <p:spPr>
          <a:xfrm>
            <a:off x="6669024" y="4865841"/>
            <a:ext cx="1219200" cy="70713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3.0mA</a:t>
            </a:r>
          </a:p>
        </p:txBody>
      </p:sp>
    </p:spTree>
    <p:extLst>
      <p:ext uri="{BB962C8B-B14F-4D97-AF65-F5344CB8AC3E}">
        <p14:creationId xmlns:p14="http://schemas.microsoft.com/office/powerpoint/2010/main" val="51522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F75D6E-6FEF-43F8-B072-F3A72F86A907}"/>
              </a:ext>
            </a:extLst>
          </p:cNvPr>
          <p:cNvSpPr>
            <a:spLocks noGrp="1"/>
          </p:cNvSpPr>
          <p:nvPr>
            <p:ph idx="1"/>
          </p:nvPr>
        </p:nvSpPr>
        <p:spPr/>
        <p:txBody>
          <a:bodyPr/>
          <a:lstStyle/>
          <a:p>
            <a:pPr>
              <a:lnSpc>
                <a:spcPct val="100000"/>
              </a:lnSpc>
            </a:pPr>
            <a:r>
              <a:rPr lang="en-US" dirty="0"/>
              <a:t>The amplitude of current graphs differed greatly. The current graph that received 5033 Hz voltage had much bigger amplitude.</a:t>
            </a:r>
          </a:p>
        </p:txBody>
      </p:sp>
    </p:spTree>
    <p:extLst>
      <p:ext uri="{BB962C8B-B14F-4D97-AF65-F5344CB8AC3E}">
        <p14:creationId xmlns:p14="http://schemas.microsoft.com/office/powerpoint/2010/main" val="902836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FDD7D0C4-C45D-ABFD-CB7E-E6087A1C8826}"/>
              </a:ext>
            </a:extLst>
          </p:cNvPr>
          <p:cNvPicPr>
            <a:picLocks noGrp="1" noChangeAspect="1"/>
          </p:cNvPicPr>
          <p:nvPr>
            <p:ph idx="1"/>
          </p:nvPr>
        </p:nvPicPr>
        <p:blipFill>
          <a:blip r:embed="rId2"/>
          <a:stretch>
            <a:fillRect/>
          </a:stretch>
        </p:blipFill>
        <p:spPr>
          <a:xfrm>
            <a:off x="457200" y="1251239"/>
            <a:ext cx="8229600" cy="4488872"/>
          </a:xfrm>
          <a:prstGeom prst="rect">
            <a:avLst/>
          </a:prstGeom>
        </p:spPr>
      </p:pic>
    </p:spTree>
    <p:extLst>
      <p:ext uri="{BB962C8B-B14F-4D97-AF65-F5344CB8AC3E}">
        <p14:creationId xmlns:p14="http://schemas.microsoft.com/office/powerpoint/2010/main" val="3947173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C27FDCA-82AC-CCA4-77E8-AA601D9A3948}"/>
              </a:ext>
            </a:extLst>
          </p:cNvPr>
          <p:cNvPicPr>
            <a:picLocks noGrp="1" noChangeAspect="1"/>
          </p:cNvPicPr>
          <p:nvPr>
            <p:ph idx="1"/>
          </p:nvPr>
        </p:nvPicPr>
        <p:blipFill>
          <a:blip r:embed="rId2"/>
          <a:stretch>
            <a:fillRect/>
          </a:stretch>
        </p:blipFill>
        <p:spPr>
          <a:xfrm>
            <a:off x="1962285" y="514350"/>
            <a:ext cx="5219430" cy="5962650"/>
          </a:xfrm>
          <a:prstGeom prst="rect">
            <a:avLst/>
          </a:prstGeom>
        </p:spPr>
      </p:pic>
    </p:spTree>
    <p:extLst>
      <p:ext uri="{BB962C8B-B14F-4D97-AF65-F5344CB8AC3E}">
        <p14:creationId xmlns:p14="http://schemas.microsoft.com/office/powerpoint/2010/main" val="1346506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F10FF-6288-2EF6-950D-4A41ECA4AB89}"/>
              </a:ext>
            </a:extLst>
          </p:cNvPr>
          <p:cNvSpPr>
            <a:spLocks noGrp="1"/>
          </p:cNvSpPr>
          <p:nvPr>
            <p:ph type="title"/>
          </p:nvPr>
        </p:nvSpPr>
        <p:spPr/>
        <p:txBody>
          <a:bodyPr/>
          <a:lstStyle/>
          <a:p>
            <a:r>
              <a:rPr lang="en-US" altLang="ko-KR" dirty="0"/>
              <a:t>Now let’s put our values</a:t>
            </a:r>
            <a:endParaRPr lang="en-US" dirty="0"/>
          </a:p>
        </p:txBody>
      </p:sp>
      <p:pic>
        <p:nvPicPr>
          <p:cNvPr id="4" name="Content Placeholder 3">
            <a:extLst>
              <a:ext uri="{FF2B5EF4-FFF2-40B4-BE49-F238E27FC236}">
                <a16:creationId xmlns:a16="http://schemas.microsoft.com/office/drawing/2014/main" id="{E53A812B-0181-3C77-6775-B2CA3EA06D67}"/>
              </a:ext>
            </a:extLst>
          </p:cNvPr>
          <p:cNvPicPr>
            <a:picLocks noGrp="1" noChangeAspect="1"/>
          </p:cNvPicPr>
          <p:nvPr>
            <p:ph idx="1"/>
          </p:nvPr>
        </p:nvPicPr>
        <p:blipFill>
          <a:blip r:embed="rId2"/>
          <a:stretch>
            <a:fillRect/>
          </a:stretch>
        </p:blipFill>
        <p:spPr>
          <a:xfrm>
            <a:off x="1375350" y="1600200"/>
            <a:ext cx="6393299" cy="4876800"/>
          </a:xfrm>
          <a:prstGeom prst="rect">
            <a:avLst/>
          </a:prstGeom>
        </p:spPr>
      </p:pic>
    </p:spTree>
    <p:extLst>
      <p:ext uri="{BB962C8B-B14F-4D97-AF65-F5344CB8AC3E}">
        <p14:creationId xmlns:p14="http://schemas.microsoft.com/office/powerpoint/2010/main" val="1981719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1DA06D-B321-653D-92FD-4EBA9D8DBC36}"/>
              </a:ext>
            </a:extLst>
          </p:cNvPr>
          <p:cNvSpPr>
            <a:spLocks noGrp="1"/>
          </p:cNvSpPr>
          <p:nvPr>
            <p:ph idx="1"/>
          </p:nvPr>
        </p:nvSpPr>
        <p:spPr/>
        <p:txBody>
          <a:bodyPr>
            <a:normAutofit/>
          </a:bodyPr>
          <a:lstStyle/>
          <a:p>
            <a:pPr>
              <a:lnSpc>
                <a:spcPct val="120000"/>
              </a:lnSpc>
            </a:pPr>
            <a:r>
              <a:rPr lang="en-US" altLang="ko-KR" dirty="0"/>
              <a:t>This frequency is called </a:t>
            </a:r>
            <a:r>
              <a:rPr lang="en-US" altLang="ko-KR" b="1" dirty="0"/>
              <a:t>Resonant Frequency</a:t>
            </a:r>
            <a:r>
              <a:rPr lang="en-US" altLang="ko-KR" dirty="0"/>
              <a:t>, and the phenomenon of amplitude being very large at this frequency is called </a:t>
            </a:r>
            <a:r>
              <a:rPr lang="en-US" altLang="ko-KR" b="1" dirty="0"/>
              <a:t>Resonance</a:t>
            </a:r>
          </a:p>
          <a:p>
            <a:pPr>
              <a:lnSpc>
                <a:spcPct val="120000"/>
              </a:lnSpc>
            </a:pPr>
            <a:endParaRPr lang="en-US" altLang="ko-KR" b="1" dirty="0"/>
          </a:p>
          <a:p>
            <a:pPr>
              <a:lnSpc>
                <a:spcPct val="120000"/>
              </a:lnSpc>
            </a:pPr>
            <a:r>
              <a:rPr lang="en-US" dirty="0"/>
              <a:t>The inductor (L) and capacitor (C) continuously exchange energy with natural rhythm. When the external voltage pushes </a:t>
            </a:r>
            <a:r>
              <a:rPr lang="en-US" b="1" dirty="0"/>
              <a:t>in step with this rhythm, </a:t>
            </a:r>
            <a:r>
              <a:rPr lang="en-US" dirty="0"/>
              <a:t>resonance occurs and amplitude grows.</a:t>
            </a:r>
            <a:endParaRPr lang="en-US" altLang="ko-KR" dirty="0"/>
          </a:p>
        </p:txBody>
      </p:sp>
    </p:spTree>
    <p:extLst>
      <p:ext uri="{BB962C8B-B14F-4D97-AF65-F5344CB8AC3E}">
        <p14:creationId xmlns:p14="http://schemas.microsoft.com/office/powerpoint/2010/main" val="716942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7E1D3-D3B4-23BA-325C-3DCFE19F4303}"/>
              </a:ext>
            </a:extLst>
          </p:cNvPr>
          <p:cNvSpPr>
            <a:spLocks noGrp="1"/>
          </p:cNvSpPr>
          <p:nvPr>
            <p:ph type="title"/>
          </p:nvPr>
        </p:nvSpPr>
        <p:spPr/>
        <p:txBody>
          <a:bodyPr/>
          <a:lstStyle/>
          <a:p>
            <a:r>
              <a:rPr lang="en-US" dirty="0"/>
              <a:t>Think about swing</a:t>
            </a:r>
          </a:p>
        </p:txBody>
      </p:sp>
      <p:sp>
        <p:nvSpPr>
          <p:cNvPr id="3" name="Content Placeholder 2">
            <a:extLst>
              <a:ext uri="{FF2B5EF4-FFF2-40B4-BE49-F238E27FC236}">
                <a16:creationId xmlns:a16="http://schemas.microsoft.com/office/drawing/2014/main" id="{5E141A25-4807-D435-319A-E5E35BF59514}"/>
              </a:ext>
            </a:extLst>
          </p:cNvPr>
          <p:cNvSpPr>
            <a:spLocks noGrp="1"/>
          </p:cNvSpPr>
          <p:nvPr>
            <p:ph idx="1"/>
          </p:nvPr>
        </p:nvSpPr>
        <p:spPr/>
        <p:txBody>
          <a:bodyPr/>
          <a:lstStyle/>
          <a:p>
            <a:r>
              <a:rPr lang="en-US" dirty="0"/>
              <a:t>A swing has its own natural rhythm — a fixed time for each back-and-forth</a:t>
            </a:r>
            <a:r>
              <a:rPr lang="en-US" altLang="ko-KR" dirty="0"/>
              <a:t>. </a:t>
            </a:r>
            <a:r>
              <a:rPr lang="en-US" dirty="0"/>
              <a:t>Push at random times fight the motion — nothing builds up.</a:t>
            </a:r>
          </a:p>
          <a:p>
            <a:r>
              <a:rPr lang="en-US" dirty="0"/>
              <a:t>But push </a:t>
            </a:r>
            <a:r>
              <a:rPr lang="en-US" b="1" dirty="0"/>
              <a:t>in sync</a:t>
            </a:r>
            <a:r>
              <a:rPr lang="en-US" dirty="0"/>
              <a:t> with that natural rhythm and the small pushes add up, swinging it higher and higher. That perfect-timing build-up </a:t>
            </a:r>
            <a:r>
              <a:rPr lang="en-US" b="1" dirty="0"/>
              <a:t>is resonance.</a:t>
            </a:r>
            <a:endParaRPr lang="en-US" dirty="0"/>
          </a:p>
          <a:p>
            <a:endParaRPr lang="en-US" dirty="0"/>
          </a:p>
        </p:txBody>
      </p:sp>
      <p:pic>
        <p:nvPicPr>
          <p:cNvPr id="4" name="Picture 3" descr="Pushing Swing Images – Browse 9,929 Stock Photos, Vectors, and Video |  Adobe Stock">
            <a:extLst>
              <a:ext uri="{FF2B5EF4-FFF2-40B4-BE49-F238E27FC236}">
                <a16:creationId xmlns:a16="http://schemas.microsoft.com/office/drawing/2014/main" id="{109BF7D2-6C29-8A59-2EFD-9D18F2F5426B}"/>
              </a:ext>
            </a:extLst>
          </p:cNvPr>
          <p:cNvPicPr>
            <a:picLocks noChangeAspect="1"/>
          </p:cNvPicPr>
          <p:nvPr/>
        </p:nvPicPr>
        <p:blipFill>
          <a:blip r:embed="rId2"/>
          <a:stretch>
            <a:fillRect/>
          </a:stretch>
        </p:blipFill>
        <p:spPr>
          <a:xfrm>
            <a:off x="3241221" y="3787810"/>
            <a:ext cx="4033785" cy="2689190"/>
          </a:xfrm>
          <a:prstGeom prst="rect">
            <a:avLst/>
          </a:prstGeom>
        </p:spPr>
      </p:pic>
    </p:spTree>
    <p:extLst>
      <p:ext uri="{BB962C8B-B14F-4D97-AF65-F5344CB8AC3E}">
        <p14:creationId xmlns:p14="http://schemas.microsoft.com/office/powerpoint/2010/main" val="2206814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10CE22-4913-F533-67D1-846087D837DC}"/>
              </a:ext>
            </a:extLst>
          </p:cNvPr>
          <p:cNvSpPr>
            <a:spLocks noGrp="1"/>
          </p:cNvSpPr>
          <p:nvPr>
            <p:ph idx="1"/>
          </p:nvPr>
        </p:nvSpPr>
        <p:spPr/>
        <p:txBody>
          <a:bodyPr/>
          <a:lstStyle/>
          <a:p>
            <a:pPr>
              <a:lnSpc>
                <a:spcPct val="100000"/>
              </a:lnSpc>
            </a:pPr>
            <a:r>
              <a:rPr lang="en-US" dirty="0"/>
              <a:t>RLC circuit had L and C value, so it was easy to find resonant frequency. However, the wine glass doesn’t, because we can ‘model’ the wine glass as RLC circuit but its not actually a circuit. So, do we need to test every frequencies? </a:t>
            </a:r>
          </a:p>
        </p:txBody>
      </p:sp>
    </p:spTree>
    <p:extLst>
      <p:ext uri="{BB962C8B-B14F-4D97-AF65-F5344CB8AC3E}">
        <p14:creationId xmlns:p14="http://schemas.microsoft.com/office/powerpoint/2010/main" val="39094022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8B76B-4DB0-8893-5282-98459BC40067}"/>
              </a:ext>
            </a:extLst>
          </p:cNvPr>
          <p:cNvSpPr>
            <a:spLocks noGrp="1"/>
          </p:cNvSpPr>
          <p:nvPr>
            <p:ph type="title"/>
          </p:nvPr>
        </p:nvSpPr>
        <p:spPr/>
        <p:txBody>
          <a:bodyPr/>
          <a:lstStyle/>
          <a:p>
            <a:r>
              <a:rPr lang="en-US" dirty="0"/>
              <a:t>Impulse Response</a:t>
            </a:r>
          </a:p>
        </p:txBody>
      </p:sp>
      <p:sp>
        <p:nvSpPr>
          <p:cNvPr id="3" name="Text Placeholder 2">
            <a:extLst>
              <a:ext uri="{FF2B5EF4-FFF2-40B4-BE49-F238E27FC236}">
                <a16:creationId xmlns:a16="http://schemas.microsoft.com/office/drawing/2014/main" id="{F386A85D-0D7D-A002-24D4-29539639D2F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64677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36AF-FF9D-1251-40BC-1180517944B4}"/>
              </a:ext>
            </a:extLst>
          </p:cNvPr>
          <p:cNvSpPr>
            <a:spLocks noGrp="1"/>
          </p:cNvSpPr>
          <p:nvPr>
            <p:ph type="title"/>
          </p:nvPr>
        </p:nvSpPr>
        <p:spPr/>
        <p:txBody>
          <a:bodyPr/>
          <a:lstStyle/>
          <a:p>
            <a:r>
              <a:rPr lang="en-US" dirty="0"/>
              <a:t>Impulse</a:t>
            </a:r>
          </a:p>
        </p:txBody>
      </p:sp>
      <p:sp>
        <p:nvSpPr>
          <p:cNvPr id="3" name="Content Placeholder 2">
            <a:extLst>
              <a:ext uri="{FF2B5EF4-FFF2-40B4-BE49-F238E27FC236}">
                <a16:creationId xmlns:a16="http://schemas.microsoft.com/office/drawing/2014/main" id="{AFFDF526-EB33-E44A-9771-E42A49EC62E6}"/>
              </a:ext>
            </a:extLst>
          </p:cNvPr>
          <p:cNvSpPr>
            <a:spLocks noGrp="1"/>
          </p:cNvSpPr>
          <p:nvPr>
            <p:ph idx="1"/>
          </p:nvPr>
        </p:nvSpPr>
        <p:spPr/>
        <p:txBody>
          <a:bodyPr/>
          <a:lstStyle/>
          <a:p>
            <a:r>
              <a:rPr lang="en-US" dirty="0"/>
              <a:t>An impulse is a sudden, very short "kick" — a large input applied for an instant and then gone (like striking a bell with a hammer or giving a swing one sharp shove).</a:t>
            </a:r>
          </a:p>
          <a:p>
            <a:r>
              <a:rPr lang="en-US" dirty="0"/>
              <a:t>It’s also called ‘delta function’. Let’s put impulse voltage to the same circuit and observe the response.</a:t>
            </a:r>
          </a:p>
        </p:txBody>
      </p:sp>
      <p:pic>
        <p:nvPicPr>
          <p:cNvPr id="4" name="Picture 3" descr="Delta function – TikZ.net">
            <a:extLst>
              <a:ext uri="{FF2B5EF4-FFF2-40B4-BE49-F238E27FC236}">
                <a16:creationId xmlns:a16="http://schemas.microsoft.com/office/drawing/2014/main" id="{F0EA2FBD-98F9-A2C2-DCBB-E414CCD52B2A}"/>
              </a:ext>
            </a:extLst>
          </p:cNvPr>
          <p:cNvPicPr>
            <a:picLocks noChangeAspect="1"/>
          </p:cNvPicPr>
          <p:nvPr/>
        </p:nvPicPr>
        <p:blipFill>
          <a:blip r:embed="rId2"/>
          <a:stretch>
            <a:fillRect/>
          </a:stretch>
        </p:blipFill>
        <p:spPr>
          <a:xfrm>
            <a:off x="2252889" y="3985536"/>
            <a:ext cx="4638221" cy="2544527"/>
          </a:xfrm>
          <a:prstGeom prst="rect">
            <a:avLst/>
          </a:prstGeom>
        </p:spPr>
      </p:pic>
    </p:spTree>
    <p:extLst>
      <p:ext uri="{BB962C8B-B14F-4D97-AF65-F5344CB8AC3E}">
        <p14:creationId xmlns:p14="http://schemas.microsoft.com/office/powerpoint/2010/main" val="3567106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B7807BBE-AB6E-224F-70A1-55E70D0A4266}"/>
              </a:ext>
            </a:extLst>
          </p:cNvPr>
          <p:cNvPicPr>
            <a:picLocks noGrp="1" noChangeAspect="1"/>
          </p:cNvPicPr>
          <p:nvPr>
            <p:ph idx="1"/>
          </p:nvPr>
        </p:nvPicPr>
        <p:blipFill>
          <a:blip r:embed="rId2"/>
          <a:stretch>
            <a:fillRect/>
          </a:stretch>
        </p:blipFill>
        <p:spPr>
          <a:xfrm>
            <a:off x="457200" y="1251239"/>
            <a:ext cx="8229600" cy="4488872"/>
          </a:xfrm>
          <a:prstGeom prst="rect">
            <a:avLst/>
          </a:prstGeom>
        </p:spPr>
      </p:pic>
    </p:spTree>
    <p:extLst>
      <p:ext uri="{BB962C8B-B14F-4D97-AF65-F5344CB8AC3E}">
        <p14:creationId xmlns:p14="http://schemas.microsoft.com/office/powerpoint/2010/main" val="7459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EAA5ED-6635-2E40-0099-D8C2A3A9FB53}"/>
              </a:ext>
            </a:extLst>
          </p:cNvPr>
          <p:cNvSpPr>
            <a:spLocks noGrp="1"/>
          </p:cNvSpPr>
          <p:nvPr>
            <p:ph idx="1"/>
          </p:nvPr>
        </p:nvSpPr>
        <p:spPr/>
        <p:txBody>
          <a:bodyPr/>
          <a:lstStyle/>
          <a:p>
            <a:pPr>
              <a:lnSpc>
                <a:spcPct val="100000"/>
              </a:lnSpc>
            </a:pPr>
            <a:r>
              <a:rPr lang="en-US" dirty="0"/>
              <a:t>How did the small ‘kick’ create sinusoidal response with resonant frequency?</a:t>
            </a:r>
          </a:p>
        </p:txBody>
      </p:sp>
    </p:spTree>
    <p:extLst>
      <p:ext uri="{BB962C8B-B14F-4D97-AF65-F5344CB8AC3E}">
        <p14:creationId xmlns:p14="http://schemas.microsoft.com/office/powerpoint/2010/main" val="3983143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D3336-ED72-C7D0-93F3-3C4A1849A237}"/>
              </a:ext>
            </a:extLst>
          </p:cNvPr>
          <p:cNvSpPr>
            <a:spLocks noGrp="1"/>
          </p:cNvSpPr>
          <p:nvPr>
            <p:ph type="title"/>
          </p:nvPr>
        </p:nvSpPr>
        <p:spPr/>
        <p:txBody>
          <a:bodyPr/>
          <a:lstStyle/>
          <a:p>
            <a:r>
              <a:rPr lang="en-US" dirty="0"/>
              <a:t>Frequency Domain</a:t>
            </a:r>
          </a:p>
        </p:txBody>
      </p:sp>
      <p:sp>
        <p:nvSpPr>
          <p:cNvPr id="3" name="Content Placeholder 2">
            <a:extLst>
              <a:ext uri="{FF2B5EF4-FFF2-40B4-BE49-F238E27FC236}">
                <a16:creationId xmlns:a16="http://schemas.microsoft.com/office/drawing/2014/main" id="{C3EE98CA-890D-1801-F050-1B0A7FABB93B}"/>
              </a:ext>
            </a:extLst>
          </p:cNvPr>
          <p:cNvSpPr>
            <a:spLocks noGrp="1"/>
          </p:cNvSpPr>
          <p:nvPr>
            <p:ph idx="1"/>
          </p:nvPr>
        </p:nvSpPr>
        <p:spPr>
          <a:xfrm>
            <a:off x="457199" y="1600200"/>
            <a:ext cx="8495881" cy="4876800"/>
          </a:xfrm>
        </p:spPr>
        <p:txBody>
          <a:bodyPr/>
          <a:lstStyle/>
          <a:p>
            <a:r>
              <a:rPr lang="en-US" dirty="0"/>
              <a:t>In frequency domain, delta function creates a horizontal line. It </a:t>
            </a:r>
            <a:br>
              <a:rPr lang="en-US" dirty="0"/>
            </a:br>
            <a:r>
              <a:rPr lang="en-US" dirty="0"/>
              <a:t>means that the delta function has </a:t>
            </a:r>
            <a:r>
              <a:rPr lang="en-US" b="1" dirty="0"/>
              <a:t>every frequencies in same size.</a:t>
            </a:r>
          </a:p>
        </p:txBody>
      </p:sp>
      <p:pic>
        <p:nvPicPr>
          <p:cNvPr id="4" name="Picture 3" descr="2: (a) Dirac delta function in the time-domain. (b) Frequency spectrum... |  Download Scientific Diagram">
            <a:extLst>
              <a:ext uri="{FF2B5EF4-FFF2-40B4-BE49-F238E27FC236}">
                <a16:creationId xmlns:a16="http://schemas.microsoft.com/office/drawing/2014/main" id="{2A2A0755-B527-51F9-0E43-5BAB92809CFD}"/>
              </a:ext>
            </a:extLst>
          </p:cNvPr>
          <p:cNvPicPr>
            <a:picLocks noChangeAspect="1"/>
          </p:cNvPicPr>
          <p:nvPr/>
        </p:nvPicPr>
        <p:blipFill>
          <a:blip r:embed="rId2"/>
          <a:stretch>
            <a:fillRect/>
          </a:stretch>
        </p:blipFill>
        <p:spPr>
          <a:xfrm>
            <a:off x="1288626" y="4089678"/>
            <a:ext cx="6566748" cy="1885043"/>
          </a:xfrm>
          <a:prstGeom prst="rect">
            <a:avLst/>
          </a:prstGeom>
        </p:spPr>
      </p:pic>
    </p:spTree>
    <p:extLst>
      <p:ext uri="{BB962C8B-B14F-4D97-AF65-F5344CB8AC3E}">
        <p14:creationId xmlns:p14="http://schemas.microsoft.com/office/powerpoint/2010/main" val="2214275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0CB31F-BBD5-26AD-9D39-8410DA941204}"/>
              </a:ext>
            </a:extLst>
          </p:cNvPr>
          <p:cNvSpPr>
            <a:spLocks noGrp="1"/>
          </p:cNvSpPr>
          <p:nvPr>
            <p:ph idx="1"/>
          </p:nvPr>
        </p:nvSpPr>
        <p:spPr/>
        <p:txBody>
          <a:bodyPr>
            <a:normAutofit/>
          </a:bodyPr>
          <a:lstStyle/>
          <a:p>
            <a:pPr>
              <a:lnSpc>
                <a:spcPct val="100000"/>
              </a:lnSpc>
            </a:pPr>
            <a:r>
              <a:rPr lang="en-US" dirty="0"/>
              <a:t>Therefore, the kick inserted sinusoidal voltage sources with different frequencies.</a:t>
            </a:r>
          </a:p>
          <a:p>
            <a:pPr>
              <a:lnSpc>
                <a:spcPct val="120000"/>
              </a:lnSpc>
            </a:pPr>
            <a:r>
              <a:rPr lang="en-US" dirty="0"/>
              <a:t>Then, the circuit responses to its natural frequency, or resonance, ignoring others. So only the resonant frequency survived.</a:t>
            </a:r>
            <a:br>
              <a:rPr lang="en-US" dirty="0"/>
            </a:br>
            <a:endParaRPr lang="en-US" dirty="0"/>
          </a:p>
        </p:txBody>
      </p:sp>
    </p:spTree>
    <p:extLst>
      <p:ext uri="{BB962C8B-B14F-4D97-AF65-F5344CB8AC3E}">
        <p14:creationId xmlns:p14="http://schemas.microsoft.com/office/powerpoint/2010/main" val="870890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592171-5CB0-F6FE-48F1-451A1EF79B38}"/>
              </a:ext>
            </a:extLst>
          </p:cNvPr>
          <p:cNvSpPr>
            <a:spLocks noGrp="1"/>
          </p:cNvSpPr>
          <p:nvPr>
            <p:ph idx="1"/>
          </p:nvPr>
        </p:nvSpPr>
        <p:spPr/>
        <p:txBody>
          <a:bodyPr/>
          <a:lstStyle/>
          <a:p>
            <a:pPr>
              <a:lnSpc>
                <a:spcPct val="100000"/>
              </a:lnSpc>
            </a:pPr>
            <a:r>
              <a:rPr lang="en-US" dirty="0"/>
              <a:t>Now, how are we </a:t>
            </a:r>
            <a:r>
              <a:rPr lang="en-US" dirty="0" err="1"/>
              <a:t>gonna</a:t>
            </a:r>
            <a:r>
              <a:rPr lang="en-US" dirty="0"/>
              <a:t> protect a structure from resonance? For example, how would architects design a building to protect from wind with resonant frequency?</a:t>
            </a:r>
          </a:p>
        </p:txBody>
      </p:sp>
    </p:spTree>
    <p:extLst>
      <p:ext uri="{BB962C8B-B14F-4D97-AF65-F5344CB8AC3E}">
        <p14:creationId xmlns:p14="http://schemas.microsoft.com/office/powerpoint/2010/main" val="2802180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E116E-900F-1D14-DC50-75303428BF82}"/>
              </a:ext>
            </a:extLst>
          </p:cNvPr>
          <p:cNvSpPr>
            <a:spLocks noGrp="1"/>
          </p:cNvSpPr>
          <p:nvPr>
            <p:ph type="title"/>
          </p:nvPr>
        </p:nvSpPr>
        <p:spPr/>
        <p:txBody>
          <a:bodyPr/>
          <a:lstStyle/>
          <a:p>
            <a:r>
              <a:rPr lang="en-US" dirty="0"/>
              <a:t>Tuned Mass Damper</a:t>
            </a:r>
          </a:p>
        </p:txBody>
      </p:sp>
      <p:sp>
        <p:nvSpPr>
          <p:cNvPr id="3" name="Text Placeholder 2">
            <a:extLst>
              <a:ext uri="{FF2B5EF4-FFF2-40B4-BE49-F238E27FC236}">
                <a16:creationId xmlns:a16="http://schemas.microsoft.com/office/drawing/2014/main" id="{56850F41-70DB-A669-893F-7116A0D4604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835919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52341-7B98-2A0D-80E0-D2D78DB9A1A8}"/>
              </a:ext>
            </a:extLst>
          </p:cNvPr>
          <p:cNvSpPr>
            <a:spLocks noGrp="1"/>
          </p:cNvSpPr>
          <p:nvPr>
            <p:ph type="title"/>
          </p:nvPr>
        </p:nvSpPr>
        <p:spPr/>
        <p:txBody>
          <a:bodyPr/>
          <a:lstStyle/>
          <a:p>
            <a:r>
              <a:rPr lang="en-US" dirty="0"/>
              <a:t>Taipei 101</a:t>
            </a:r>
          </a:p>
        </p:txBody>
      </p:sp>
      <p:pic>
        <p:nvPicPr>
          <p:cNvPr id="4" name="Content Placeholder 3" descr="Tuned Mass Damper of Taipei 101 in Taipei">
            <a:extLst>
              <a:ext uri="{FF2B5EF4-FFF2-40B4-BE49-F238E27FC236}">
                <a16:creationId xmlns:a16="http://schemas.microsoft.com/office/drawing/2014/main" id="{244D0220-A1DE-6645-F362-B588F5916ACE}"/>
              </a:ext>
            </a:extLst>
          </p:cNvPr>
          <p:cNvPicPr>
            <a:picLocks noGrp="1" noChangeAspect="1"/>
          </p:cNvPicPr>
          <p:nvPr>
            <p:ph idx="1"/>
          </p:nvPr>
        </p:nvPicPr>
        <p:blipFill>
          <a:blip r:embed="rId2"/>
          <a:stretch>
            <a:fillRect/>
          </a:stretch>
        </p:blipFill>
        <p:spPr>
          <a:xfrm>
            <a:off x="369870" y="2660934"/>
            <a:ext cx="3787739" cy="2525159"/>
          </a:xfrm>
          <a:prstGeom prst="rect">
            <a:avLst/>
          </a:prstGeom>
        </p:spPr>
      </p:pic>
      <p:pic>
        <p:nvPicPr>
          <p:cNvPr id="6" name="Picture 5" descr="Taipei 101 - Structural Engineering Explained - Structures Explained">
            <a:extLst>
              <a:ext uri="{FF2B5EF4-FFF2-40B4-BE49-F238E27FC236}">
                <a16:creationId xmlns:a16="http://schemas.microsoft.com/office/drawing/2014/main" id="{BA34D024-3E9A-B224-5181-0F173811B3EA}"/>
              </a:ext>
            </a:extLst>
          </p:cNvPr>
          <p:cNvPicPr>
            <a:picLocks noChangeAspect="1"/>
          </p:cNvPicPr>
          <p:nvPr/>
        </p:nvPicPr>
        <p:blipFill>
          <a:blip r:embed="rId3"/>
          <a:stretch>
            <a:fillRect/>
          </a:stretch>
        </p:blipFill>
        <p:spPr>
          <a:xfrm>
            <a:off x="4572000" y="2660934"/>
            <a:ext cx="4360809" cy="2452955"/>
          </a:xfrm>
          <a:prstGeom prst="rect">
            <a:avLst/>
          </a:prstGeom>
        </p:spPr>
      </p:pic>
    </p:spTree>
    <p:extLst>
      <p:ext uri="{BB962C8B-B14F-4D97-AF65-F5344CB8AC3E}">
        <p14:creationId xmlns:p14="http://schemas.microsoft.com/office/powerpoint/2010/main" val="1430183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DF095-B1FC-C0B3-2264-925036E54F1F}"/>
              </a:ext>
            </a:extLst>
          </p:cNvPr>
          <p:cNvSpPr>
            <a:spLocks noGrp="1"/>
          </p:cNvSpPr>
          <p:nvPr>
            <p:ph type="title"/>
          </p:nvPr>
        </p:nvSpPr>
        <p:spPr/>
        <p:txBody>
          <a:bodyPr/>
          <a:lstStyle/>
          <a:p>
            <a:r>
              <a:rPr lang="en-US" dirty="0"/>
              <a:t>Taipei 101</a:t>
            </a:r>
          </a:p>
        </p:txBody>
      </p:sp>
      <p:sp>
        <p:nvSpPr>
          <p:cNvPr id="3" name="Content Placeholder 2">
            <a:extLst>
              <a:ext uri="{FF2B5EF4-FFF2-40B4-BE49-F238E27FC236}">
                <a16:creationId xmlns:a16="http://schemas.microsoft.com/office/drawing/2014/main" id="{3A6C08DA-67DD-5090-11E8-B07164CA52CF}"/>
              </a:ext>
            </a:extLst>
          </p:cNvPr>
          <p:cNvSpPr>
            <a:spLocks noGrp="1"/>
          </p:cNvSpPr>
          <p:nvPr>
            <p:ph idx="1"/>
          </p:nvPr>
        </p:nvSpPr>
        <p:spPr/>
        <p:txBody>
          <a:bodyPr/>
          <a:lstStyle/>
          <a:p>
            <a:r>
              <a:rPr lang="en-US" dirty="0"/>
              <a:t>The large, heavy sphere is ‘tuned mass damper’, which protects the building.</a:t>
            </a:r>
          </a:p>
          <a:p>
            <a:r>
              <a:rPr lang="en-US" dirty="0"/>
              <a:t>It reduces effects of resonance by moving to the opposite </a:t>
            </a:r>
            <a:br>
              <a:rPr lang="en-US" dirty="0"/>
            </a:br>
            <a:r>
              <a:rPr lang="en-US" dirty="0"/>
              <a:t>direction when the building vibrates, absorbing the kinetic </a:t>
            </a:r>
            <a:br>
              <a:rPr lang="en-US" dirty="0"/>
            </a:br>
            <a:r>
              <a:rPr lang="en-US" dirty="0"/>
              <a:t>energy</a:t>
            </a:r>
          </a:p>
        </p:txBody>
      </p:sp>
    </p:spTree>
    <p:extLst>
      <p:ext uri="{BB962C8B-B14F-4D97-AF65-F5344CB8AC3E}">
        <p14:creationId xmlns:p14="http://schemas.microsoft.com/office/powerpoint/2010/main" val="2176823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AB1F-5C15-C969-B81A-902439EEE76C}"/>
              </a:ext>
            </a:extLst>
          </p:cNvPr>
          <p:cNvSpPr>
            <a:spLocks noGrp="1"/>
          </p:cNvSpPr>
          <p:nvPr>
            <p:ph type="title"/>
          </p:nvPr>
        </p:nvSpPr>
        <p:spPr/>
        <p:txBody>
          <a:bodyPr/>
          <a:lstStyle/>
          <a:p>
            <a:r>
              <a:rPr lang="en-US" dirty="0"/>
              <a:t>Tuned Mass Damper</a:t>
            </a:r>
          </a:p>
        </p:txBody>
      </p:sp>
      <p:sp>
        <p:nvSpPr>
          <p:cNvPr id="3" name="Content Placeholder 2">
            <a:extLst>
              <a:ext uri="{FF2B5EF4-FFF2-40B4-BE49-F238E27FC236}">
                <a16:creationId xmlns:a16="http://schemas.microsoft.com/office/drawing/2014/main" id="{D2C95D28-7363-E59A-6D8B-A71EED858A9C}"/>
              </a:ext>
            </a:extLst>
          </p:cNvPr>
          <p:cNvSpPr>
            <a:spLocks noGrp="1"/>
          </p:cNvSpPr>
          <p:nvPr>
            <p:ph sz="half" idx="1"/>
          </p:nvPr>
        </p:nvSpPr>
        <p:spPr/>
        <p:txBody>
          <a:bodyPr/>
          <a:lstStyle/>
          <a:p>
            <a:r>
              <a:rPr lang="en-US" dirty="0"/>
              <a:t>m1 = main structure</a:t>
            </a:r>
          </a:p>
          <a:p>
            <a:r>
              <a:rPr lang="en-US" dirty="0"/>
              <a:t>m2 = tuned mass damper</a:t>
            </a:r>
          </a:p>
          <a:p>
            <a:r>
              <a:rPr lang="en-US" dirty="0"/>
              <a:t>F = ma</a:t>
            </a:r>
          </a:p>
          <a:p>
            <a:r>
              <a:rPr lang="en-US" dirty="0"/>
              <a:t>Two DEs:</a:t>
            </a:r>
          </a:p>
          <a:p>
            <a:endParaRPr lang="en-US" dirty="0"/>
          </a:p>
        </p:txBody>
      </p:sp>
      <p:pic>
        <p:nvPicPr>
          <p:cNvPr id="5" name="Content Placeholder 4">
            <a:extLst>
              <a:ext uri="{FF2B5EF4-FFF2-40B4-BE49-F238E27FC236}">
                <a16:creationId xmlns:a16="http://schemas.microsoft.com/office/drawing/2014/main" id="{68BC7F9E-A311-EC1D-8E31-0CE5717F7131}"/>
              </a:ext>
            </a:extLst>
          </p:cNvPr>
          <p:cNvPicPr>
            <a:picLocks noGrp="1" noChangeAspect="1"/>
          </p:cNvPicPr>
          <p:nvPr>
            <p:ph sz="half" idx="2"/>
          </p:nvPr>
        </p:nvPicPr>
        <p:blipFill>
          <a:blip r:embed="rId2"/>
          <a:stretch>
            <a:fillRect/>
          </a:stretch>
        </p:blipFill>
        <p:spPr>
          <a:xfrm>
            <a:off x="5684567" y="2743200"/>
            <a:ext cx="3208572" cy="1960794"/>
          </a:xfrm>
          <a:prstGeom prst="rect">
            <a:avLst/>
          </a:prstGeom>
        </p:spPr>
      </p:pic>
      <p:pic>
        <p:nvPicPr>
          <p:cNvPr id="8" name="Picture 7">
            <a:extLst>
              <a:ext uri="{FF2B5EF4-FFF2-40B4-BE49-F238E27FC236}">
                <a16:creationId xmlns:a16="http://schemas.microsoft.com/office/drawing/2014/main" id="{518DF5AC-0E2F-354E-8D69-5B6DC01C3C72}"/>
              </a:ext>
            </a:extLst>
          </p:cNvPr>
          <p:cNvPicPr>
            <a:picLocks noChangeAspect="1"/>
          </p:cNvPicPr>
          <p:nvPr/>
        </p:nvPicPr>
        <p:blipFill>
          <a:blip r:embed="rId3"/>
          <a:stretch>
            <a:fillRect/>
          </a:stretch>
        </p:blipFill>
        <p:spPr>
          <a:xfrm>
            <a:off x="457200" y="3873051"/>
            <a:ext cx="5010559" cy="571857"/>
          </a:xfrm>
          <a:prstGeom prst="rect">
            <a:avLst/>
          </a:prstGeom>
        </p:spPr>
      </p:pic>
    </p:spTree>
    <p:extLst>
      <p:ext uri="{BB962C8B-B14F-4D97-AF65-F5344CB8AC3E}">
        <p14:creationId xmlns:p14="http://schemas.microsoft.com/office/powerpoint/2010/main" val="1389639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F1C63-5D8E-BD73-FA9A-D35DBFEA8817}"/>
              </a:ext>
            </a:extLst>
          </p:cNvPr>
          <p:cNvSpPr>
            <a:spLocks noGrp="1"/>
          </p:cNvSpPr>
          <p:nvPr>
            <p:ph type="title"/>
          </p:nvPr>
        </p:nvSpPr>
        <p:spPr/>
        <p:txBody>
          <a:bodyPr/>
          <a:lstStyle/>
          <a:p>
            <a:r>
              <a:rPr lang="en-US" dirty="0"/>
              <a:t>Graph of tuned mass damper</a:t>
            </a:r>
          </a:p>
        </p:txBody>
      </p:sp>
      <p:pic>
        <p:nvPicPr>
          <p:cNvPr id="4" name="Content Placeholder 3">
            <a:extLst>
              <a:ext uri="{FF2B5EF4-FFF2-40B4-BE49-F238E27FC236}">
                <a16:creationId xmlns:a16="http://schemas.microsoft.com/office/drawing/2014/main" id="{5F01A6D1-4ACC-D606-ABBC-213D77538FEE}"/>
              </a:ext>
            </a:extLst>
          </p:cNvPr>
          <p:cNvPicPr>
            <a:picLocks noGrp="1" noChangeAspect="1"/>
          </p:cNvPicPr>
          <p:nvPr>
            <p:ph idx="1"/>
          </p:nvPr>
        </p:nvPicPr>
        <p:blipFill>
          <a:blip r:embed="rId2"/>
          <a:stretch>
            <a:fillRect/>
          </a:stretch>
        </p:blipFill>
        <p:spPr>
          <a:xfrm>
            <a:off x="457200" y="2275114"/>
            <a:ext cx="8229600" cy="3526971"/>
          </a:xfrm>
          <a:prstGeom prst="rect">
            <a:avLst/>
          </a:prstGeom>
        </p:spPr>
      </p:pic>
    </p:spTree>
    <p:extLst>
      <p:ext uri="{BB962C8B-B14F-4D97-AF65-F5344CB8AC3E}">
        <p14:creationId xmlns:p14="http://schemas.microsoft.com/office/powerpoint/2010/main" val="14695804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55F8-8504-D507-01B9-09EF02A67C05}"/>
              </a:ext>
            </a:extLst>
          </p:cNvPr>
          <p:cNvSpPr>
            <a:spLocks noGrp="1"/>
          </p:cNvSpPr>
          <p:nvPr>
            <p:ph type="title"/>
          </p:nvPr>
        </p:nvSpPr>
        <p:spPr/>
        <p:txBody>
          <a:bodyPr/>
          <a:lstStyle/>
          <a:p>
            <a:r>
              <a:rPr lang="en-US" dirty="0"/>
              <a:t>RLC circuit model</a:t>
            </a:r>
          </a:p>
        </p:txBody>
      </p:sp>
      <p:pic>
        <p:nvPicPr>
          <p:cNvPr id="11" name="Content Placeholder 10">
            <a:extLst>
              <a:ext uri="{FF2B5EF4-FFF2-40B4-BE49-F238E27FC236}">
                <a16:creationId xmlns:a16="http://schemas.microsoft.com/office/drawing/2014/main" id="{A4A8E2D4-80F1-8999-B7FB-12094A66818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57200" y="1735455"/>
            <a:ext cx="8229600" cy="4606290"/>
          </a:xfrm>
          <a:prstGeom prst="rect">
            <a:avLst/>
          </a:prstGeom>
        </p:spPr>
      </p:pic>
    </p:spTree>
    <p:extLst>
      <p:ext uri="{BB962C8B-B14F-4D97-AF65-F5344CB8AC3E}">
        <p14:creationId xmlns:p14="http://schemas.microsoft.com/office/powerpoint/2010/main" val="4278139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FB8F2-42AA-02CB-064C-87707DD5B3C4}"/>
              </a:ext>
            </a:extLst>
          </p:cNvPr>
          <p:cNvSpPr>
            <a:spLocks noGrp="1"/>
          </p:cNvSpPr>
          <p:nvPr>
            <p:ph type="title"/>
          </p:nvPr>
        </p:nvSpPr>
        <p:spPr/>
        <p:txBody>
          <a:bodyPr/>
          <a:lstStyle/>
          <a:p>
            <a:r>
              <a:rPr lang="en-US" dirty="0"/>
              <a:t>Derivation</a:t>
            </a:r>
          </a:p>
        </p:txBody>
      </p:sp>
      <p:pic>
        <p:nvPicPr>
          <p:cNvPr id="4" name="Content Placeholder 3">
            <a:extLst>
              <a:ext uri="{FF2B5EF4-FFF2-40B4-BE49-F238E27FC236}">
                <a16:creationId xmlns:a16="http://schemas.microsoft.com/office/drawing/2014/main" id="{2D1D2D42-4711-BACC-945E-EBC1DD543FBE}"/>
              </a:ext>
            </a:extLst>
          </p:cNvPr>
          <p:cNvPicPr>
            <a:picLocks noGrp="1" noChangeAspect="1"/>
          </p:cNvPicPr>
          <p:nvPr>
            <p:ph idx="1"/>
          </p:nvPr>
        </p:nvPicPr>
        <p:blipFill>
          <a:blip r:embed="rId2"/>
          <a:stretch>
            <a:fillRect/>
          </a:stretch>
        </p:blipFill>
        <p:spPr>
          <a:xfrm>
            <a:off x="457200" y="1783080"/>
            <a:ext cx="8229600" cy="4511040"/>
          </a:xfrm>
          <a:prstGeom prst="rect">
            <a:avLst/>
          </a:prstGeom>
        </p:spPr>
      </p:pic>
    </p:spTree>
    <p:extLst>
      <p:ext uri="{BB962C8B-B14F-4D97-AF65-F5344CB8AC3E}">
        <p14:creationId xmlns:p14="http://schemas.microsoft.com/office/powerpoint/2010/main" val="5873581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097912-B4C3-3B79-C8B9-ABC45AF87FBD}"/>
              </a:ext>
            </a:extLst>
          </p:cNvPr>
          <p:cNvSpPr>
            <a:spLocks noGrp="1"/>
          </p:cNvSpPr>
          <p:nvPr>
            <p:ph idx="1"/>
          </p:nvPr>
        </p:nvSpPr>
        <p:spPr/>
        <p:txBody>
          <a:bodyPr/>
          <a:lstStyle/>
          <a:p>
            <a:r>
              <a:rPr lang="en-US" dirty="0"/>
              <a:t>We can see that the differential equations are equivalent, and </a:t>
            </a:r>
            <a:br>
              <a:rPr lang="en-US" dirty="0"/>
            </a:br>
            <a:r>
              <a:rPr lang="en-US" dirty="0"/>
              <a:t>only coefficients changed.</a:t>
            </a:r>
          </a:p>
        </p:txBody>
      </p:sp>
      <p:pic>
        <p:nvPicPr>
          <p:cNvPr id="5" name="Picture 4">
            <a:extLst>
              <a:ext uri="{FF2B5EF4-FFF2-40B4-BE49-F238E27FC236}">
                <a16:creationId xmlns:a16="http://schemas.microsoft.com/office/drawing/2014/main" id="{89148171-19D0-17B6-EBE9-BC4D8BEF1D70}"/>
              </a:ext>
            </a:extLst>
          </p:cNvPr>
          <p:cNvPicPr>
            <a:picLocks noChangeAspect="1"/>
          </p:cNvPicPr>
          <p:nvPr/>
        </p:nvPicPr>
        <p:blipFill>
          <a:blip r:embed="rId2"/>
          <a:stretch>
            <a:fillRect/>
          </a:stretch>
        </p:blipFill>
        <p:spPr>
          <a:xfrm>
            <a:off x="685800" y="2696287"/>
            <a:ext cx="7772400" cy="2657230"/>
          </a:xfrm>
          <a:prstGeom prst="rect">
            <a:avLst/>
          </a:prstGeom>
        </p:spPr>
      </p:pic>
    </p:spTree>
    <p:extLst>
      <p:ext uri="{BB962C8B-B14F-4D97-AF65-F5344CB8AC3E}">
        <p14:creationId xmlns:p14="http://schemas.microsoft.com/office/powerpoint/2010/main" val="30700778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D30A2-0E5D-FCBD-7F10-8B195897B32E}"/>
              </a:ext>
            </a:extLst>
          </p:cNvPr>
          <p:cNvSpPr>
            <a:spLocks noGrp="1"/>
          </p:cNvSpPr>
          <p:nvPr>
            <p:ph type="title"/>
          </p:nvPr>
        </p:nvSpPr>
        <p:spPr/>
        <p:txBody>
          <a:bodyPr/>
          <a:lstStyle/>
          <a:p>
            <a:r>
              <a:rPr lang="en-US" dirty="0"/>
              <a:t>Setting Value</a:t>
            </a:r>
          </a:p>
        </p:txBody>
      </p:sp>
      <p:pic>
        <p:nvPicPr>
          <p:cNvPr id="5" name="Content Placeholder 4">
            <a:extLst>
              <a:ext uri="{FF2B5EF4-FFF2-40B4-BE49-F238E27FC236}">
                <a16:creationId xmlns:a16="http://schemas.microsoft.com/office/drawing/2014/main" id="{48CAA2D5-E745-3805-A90B-B33632A46510}"/>
              </a:ext>
            </a:extLst>
          </p:cNvPr>
          <p:cNvPicPr>
            <a:picLocks noGrp="1" noChangeAspect="1"/>
          </p:cNvPicPr>
          <p:nvPr>
            <p:ph idx="1"/>
          </p:nvPr>
        </p:nvPicPr>
        <p:blipFill>
          <a:blip r:embed="rId2"/>
          <a:stretch>
            <a:fillRect/>
          </a:stretch>
        </p:blipFill>
        <p:spPr>
          <a:xfrm>
            <a:off x="457200" y="3136061"/>
            <a:ext cx="8229600" cy="1805077"/>
          </a:xfrm>
          <a:prstGeom prst="rect">
            <a:avLst/>
          </a:prstGeom>
        </p:spPr>
      </p:pic>
    </p:spTree>
    <p:extLst>
      <p:ext uri="{BB962C8B-B14F-4D97-AF65-F5344CB8AC3E}">
        <p14:creationId xmlns:p14="http://schemas.microsoft.com/office/powerpoint/2010/main" val="2656041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31FA8-49F0-E6F4-C826-6882A561006A}"/>
              </a:ext>
            </a:extLst>
          </p:cNvPr>
          <p:cNvSpPr>
            <a:spLocks noGrp="1"/>
          </p:cNvSpPr>
          <p:nvPr>
            <p:ph type="title"/>
          </p:nvPr>
        </p:nvSpPr>
        <p:spPr/>
        <p:txBody>
          <a:bodyPr/>
          <a:lstStyle/>
          <a:p>
            <a:r>
              <a:rPr lang="en-US" dirty="0"/>
              <a:t>Without TMD</a:t>
            </a:r>
          </a:p>
        </p:txBody>
      </p:sp>
      <p:pic>
        <p:nvPicPr>
          <p:cNvPr id="4" name="Content Placeholder 3">
            <a:extLst>
              <a:ext uri="{FF2B5EF4-FFF2-40B4-BE49-F238E27FC236}">
                <a16:creationId xmlns:a16="http://schemas.microsoft.com/office/drawing/2014/main" id="{E02035EF-AC5F-4D82-AEC3-E292DE4FC78C}"/>
              </a:ext>
            </a:extLst>
          </p:cNvPr>
          <p:cNvPicPr>
            <a:picLocks noGrp="1" noChangeAspect="1"/>
          </p:cNvPicPr>
          <p:nvPr>
            <p:ph idx="1"/>
          </p:nvPr>
        </p:nvPicPr>
        <p:blipFill>
          <a:blip r:embed="rId2"/>
          <a:stretch>
            <a:fillRect/>
          </a:stretch>
        </p:blipFill>
        <p:spPr>
          <a:xfrm>
            <a:off x="457200" y="1794164"/>
            <a:ext cx="8229600" cy="4488872"/>
          </a:xfrm>
          <a:prstGeom prst="rect">
            <a:avLst/>
          </a:prstGeom>
        </p:spPr>
      </p:pic>
    </p:spTree>
    <p:extLst>
      <p:ext uri="{BB962C8B-B14F-4D97-AF65-F5344CB8AC3E}">
        <p14:creationId xmlns:p14="http://schemas.microsoft.com/office/powerpoint/2010/main" val="30714783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7934F-0060-9F73-2186-AAA64F6559C6}"/>
              </a:ext>
            </a:extLst>
          </p:cNvPr>
          <p:cNvSpPr>
            <a:spLocks noGrp="1"/>
          </p:cNvSpPr>
          <p:nvPr>
            <p:ph type="title"/>
          </p:nvPr>
        </p:nvSpPr>
        <p:spPr/>
        <p:txBody>
          <a:bodyPr/>
          <a:lstStyle/>
          <a:p>
            <a:r>
              <a:rPr lang="en-US" dirty="0"/>
              <a:t>With TMD</a:t>
            </a:r>
          </a:p>
        </p:txBody>
      </p:sp>
      <p:pic>
        <p:nvPicPr>
          <p:cNvPr id="11" name="Content Placeholder 10">
            <a:extLst>
              <a:ext uri="{FF2B5EF4-FFF2-40B4-BE49-F238E27FC236}">
                <a16:creationId xmlns:a16="http://schemas.microsoft.com/office/drawing/2014/main" id="{12142982-C859-154F-B98A-F6A85487BB83}"/>
              </a:ext>
            </a:extLst>
          </p:cNvPr>
          <p:cNvPicPr>
            <a:picLocks noGrp="1" noChangeAspect="1"/>
          </p:cNvPicPr>
          <p:nvPr>
            <p:ph idx="1"/>
          </p:nvPr>
        </p:nvPicPr>
        <p:blipFill>
          <a:blip r:embed="rId2"/>
          <a:stretch>
            <a:fillRect/>
          </a:stretch>
        </p:blipFill>
        <p:spPr>
          <a:xfrm>
            <a:off x="457200" y="1794164"/>
            <a:ext cx="8229600" cy="4488872"/>
          </a:xfrm>
          <a:prstGeom prst="rect">
            <a:avLst/>
          </a:prstGeom>
        </p:spPr>
      </p:pic>
    </p:spTree>
    <p:extLst>
      <p:ext uri="{BB962C8B-B14F-4D97-AF65-F5344CB8AC3E}">
        <p14:creationId xmlns:p14="http://schemas.microsoft.com/office/powerpoint/2010/main" val="5268967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8A5B6-358F-0DA9-EF7E-39C5833608C3}"/>
              </a:ext>
            </a:extLst>
          </p:cNvPr>
          <p:cNvSpPr>
            <a:spLocks noGrp="1"/>
          </p:cNvSpPr>
          <p:nvPr>
            <p:ph type="title"/>
          </p:nvPr>
        </p:nvSpPr>
        <p:spPr/>
        <p:txBody>
          <a:bodyPr/>
          <a:lstStyle/>
          <a:p>
            <a:r>
              <a:rPr lang="en-US" dirty="0"/>
              <a:t>Comparison</a:t>
            </a:r>
          </a:p>
        </p:txBody>
      </p:sp>
      <p:pic>
        <p:nvPicPr>
          <p:cNvPr id="7" name="Content Placeholder 6">
            <a:extLst>
              <a:ext uri="{FF2B5EF4-FFF2-40B4-BE49-F238E27FC236}">
                <a16:creationId xmlns:a16="http://schemas.microsoft.com/office/drawing/2014/main" id="{E73582BD-2A6D-7639-1AA8-7DEAE3C09FE8}"/>
              </a:ext>
            </a:extLst>
          </p:cNvPr>
          <p:cNvPicPr>
            <a:picLocks noGrp="1" noChangeAspect="1"/>
          </p:cNvPicPr>
          <p:nvPr>
            <p:ph idx="1"/>
          </p:nvPr>
        </p:nvPicPr>
        <p:blipFill>
          <a:blip r:embed="rId2"/>
          <a:stretch>
            <a:fillRect/>
          </a:stretch>
        </p:blipFill>
        <p:spPr>
          <a:xfrm>
            <a:off x="457200" y="1794164"/>
            <a:ext cx="8229600" cy="4488872"/>
          </a:xfrm>
          <a:prstGeom prst="rect">
            <a:avLst/>
          </a:prstGeom>
        </p:spPr>
      </p:pic>
    </p:spTree>
    <p:extLst>
      <p:ext uri="{BB962C8B-B14F-4D97-AF65-F5344CB8AC3E}">
        <p14:creationId xmlns:p14="http://schemas.microsoft.com/office/powerpoint/2010/main" val="10566634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4CBD4C-48E6-2BF0-8B07-1E89A8AA8594}"/>
              </a:ext>
            </a:extLst>
          </p:cNvPr>
          <p:cNvSpPr>
            <a:spLocks noGrp="1"/>
          </p:cNvSpPr>
          <p:nvPr>
            <p:ph idx="1"/>
          </p:nvPr>
        </p:nvSpPr>
        <p:spPr/>
        <p:txBody>
          <a:bodyPr/>
          <a:lstStyle/>
          <a:p>
            <a:r>
              <a:rPr lang="en-US" dirty="0"/>
              <a:t>We can observe the great decrease in amplitude near the resonant frequency. It doesn’t have a great peak at the resonant frequency. Instead, it has two peaks near the resonance.</a:t>
            </a:r>
          </a:p>
        </p:txBody>
      </p:sp>
    </p:spTree>
    <p:extLst>
      <p:ext uri="{BB962C8B-B14F-4D97-AF65-F5344CB8AC3E}">
        <p14:creationId xmlns:p14="http://schemas.microsoft.com/office/powerpoint/2010/main" val="13223792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44768-A85C-9C28-66FF-71022E901876}"/>
              </a:ext>
            </a:extLst>
          </p:cNvPr>
          <p:cNvSpPr>
            <a:spLocks noGrp="1"/>
          </p:cNvSpPr>
          <p:nvPr>
            <p:ph type="title"/>
          </p:nvPr>
        </p:nvSpPr>
        <p:spPr/>
        <p:txBody>
          <a:bodyPr/>
          <a:lstStyle/>
          <a:p>
            <a:r>
              <a:rPr lang="en-US" dirty="0"/>
              <a:t>i1, i1 – i2, i2</a:t>
            </a:r>
          </a:p>
        </p:txBody>
      </p:sp>
      <p:pic>
        <p:nvPicPr>
          <p:cNvPr id="7" name="Content Placeholder 6">
            <a:extLst>
              <a:ext uri="{FF2B5EF4-FFF2-40B4-BE49-F238E27FC236}">
                <a16:creationId xmlns:a16="http://schemas.microsoft.com/office/drawing/2014/main" id="{26FB3CA0-3D53-5C54-4DF5-D047CE41E1D7}"/>
              </a:ext>
            </a:extLst>
          </p:cNvPr>
          <p:cNvPicPr>
            <a:picLocks noGrp="1" noChangeAspect="1"/>
          </p:cNvPicPr>
          <p:nvPr>
            <p:ph idx="1"/>
          </p:nvPr>
        </p:nvPicPr>
        <p:blipFill>
          <a:blip r:embed="rId3"/>
          <a:stretch>
            <a:fillRect/>
          </a:stretch>
        </p:blipFill>
        <p:spPr>
          <a:xfrm>
            <a:off x="457200" y="1981200"/>
            <a:ext cx="8229600" cy="4114800"/>
          </a:xfrm>
          <a:prstGeom prst="rect">
            <a:avLst/>
          </a:prstGeom>
        </p:spPr>
      </p:pic>
    </p:spTree>
    <p:extLst>
      <p:ext uri="{BB962C8B-B14F-4D97-AF65-F5344CB8AC3E}">
        <p14:creationId xmlns:p14="http://schemas.microsoft.com/office/powerpoint/2010/main" val="2454716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45D82-612F-A27C-62EA-26D02E799030}"/>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3444353C-769E-7953-F874-89F9338F8D5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105530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C08A05-6F46-C5A7-B580-7683F9099FA2}"/>
              </a:ext>
            </a:extLst>
          </p:cNvPr>
          <p:cNvSpPr>
            <a:spLocks noGrp="1"/>
          </p:cNvSpPr>
          <p:nvPr>
            <p:ph idx="1"/>
          </p:nvPr>
        </p:nvSpPr>
        <p:spPr/>
        <p:txBody>
          <a:bodyPr>
            <a:normAutofit/>
          </a:bodyPr>
          <a:lstStyle/>
          <a:p>
            <a:pPr>
              <a:lnSpc>
                <a:spcPct val="100000"/>
              </a:lnSpc>
            </a:pPr>
            <a:r>
              <a:rPr lang="en-US" dirty="0"/>
              <a:t>Breaking wine glass with sound was possible due to ‘resonance’. This resonance can be derived by solving differential equation. By observing impulse response, we found that from every frequencies, the circuit only response to the resonant frequency. By that, we were able to find the resonant frequency by just inserting an impulse voltage. Also, one way to prevent resonance in a building was tuned mass damper.</a:t>
            </a:r>
          </a:p>
        </p:txBody>
      </p:sp>
    </p:spTree>
    <p:extLst>
      <p:ext uri="{BB962C8B-B14F-4D97-AF65-F5344CB8AC3E}">
        <p14:creationId xmlns:p14="http://schemas.microsoft.com/office/powerpoint/2010/main" val="34145211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내용 개체 틀 4" descr="텍스트, 포스트잇 노트, 폰트, 노랑이(가) 표시된 사진&#10;&#10;자동 생성된 설명">
            <a:extLst>
              <a:ext uri="{FF2B5EF4-FFF2-40B4-BE49-F238E27FC236}">
                <a16:creationId xmlns:a16="http://schemas.microsoft.com/office/drawing/2014/main" id="{7559BE02-EF41-F20D-C56E-135E217F542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14989" y="-49768"/>
            <a:ext cx="6714021" cy="6957536"/>
          </a:xfrm>
          <a:noFill/>
        </p:spPr>
      </p:pic>
    </p:spTree>
    <p:extLst>
      <p:ext uri="{BB962C8B-B14F-4D97-AF65-F5344CB8AC3E}">
        <p14:creationId xmlns:p14="http://schemas.microsoft.com/office/powerpoint/2010/main" val="193324860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테마1">
  <a:themeElements>
    <a:clrScheme name="투명도">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사용자 지정 1">
      <a:majorFont>
        <a:latin typeface="Times New Roman"/>
        <a:ea typeface="NanumMyeongjo"/>
        <a:cs typeface=""/>
      </a:majorFont>
      <a:minorFont>
        <a:latin typeface="Times New Roman"/>
        <a:ea typeface="NanumMyeongjo"/>
        <a:cs typeface=""/>
      </a:minorFont>
    </a:fontScheme>
    <a:fmtScheme name="투명도">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extLst>
    <a:ext uri="{05A4C25C-085E-4340-85A3-A5531E510DB2}">
      <thm15:themeFamily xmlns:thm15="http://schemas.microsoft.com/office/thememl/2012/main" name="테마1" id="{74B72C8E-212C-4DC9-8233-F06C582AE55C}" vid="{1355DB75-B6A4-4AC4-9483-7F478CE60976}"/>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64753</TotalTime>
  <Words>821</Words>
  <Application>Microsoft Macintosh PowerPoint</Application>
  <PresentationFormat>On-screen Show (4:3)</PresentationFormat>
  <Paragraphs>69</Paragraphs>
  <Slides>39</Slides>
  <Notes>3</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Adobe 명조 Std M</vt:lpstr>
      <vt:lpstr>HY그래픽</vt:lpstr>
      <vt:lpstr>맑은 고딕</vt:lpstr>
      <vt:lpstr>NanumMyeongjo</vt:lpstr>
      <vt:lpstr>휴먼옛체</vt:lpstr>
      <vt:lpstr>Arial</vt:lpstr>
      <vt:lpstr>Times New Roman</vt:lpstr>
      <vt:lpstr>테마1</vt:lpstr>
      <vt:lpstr>Resonance and Impulse  Reaction</vt:lpstr>
      <vt:lpstr>Breaking Glass with only Sound</vt:lpstr>
      <vt:lpstr>PowerPoint Presentation</vt:lpstr>
      <vt:lpstr>PowerPoint Presentation</vt:lpstr>
      <vt:lpstr>Resonance</vt:lpstr>
      <vt:lpstr>RLC Circuit</vt:lpstr>
      <vt:lpstr>'Special frequency’ of the circuit</vt:lpstr>
      <vt:lpstr>PowerPoint Presentation</vt:lpstr>
      <vt:lpstr>PowerPoint Presentation</vt:lpstr>
      <vt:lpstr>PowerPoint Presentation</vt:lpstr>
      <vt:lpstr>PowerPoint Presentation</vt:lpstr>
      <vt:lpstr>Now let’s put our values</vt:lpstr>
      <vt:lpstr>PowerPoint Presentation</vt:lpstr>
      <vt:lpstr>Think about swing</vt:lpstr>
      <vt:lpstr>PowerPoint Presentation</vt:lpstr>
      <vt:lpstr>Impulse Response</vt:lpstr>
      <vt:lpstr>Impulse</vt:lpstr>
      <vt:lpstr>PowerPoint Presentation</vt:lpstr>
      <vt:lpstr>PowerPoint Presentation</vt:lpstr>
      <vt:lpstr>Frequency Domain</vt:lpstr>
      <vt:lpstr>PowerPoint Presentation</vt:lpstr>
      <vt:lpstr>PowerPoint Presentation</vt:lpstr>
      <vt:lpstr>Tuned Mass Damper</vt:lpstr>
      <vt:lpstr>Taipei 101</vt:lpstr>
      <vt:lpstr>Taipei 101</vt:lpstr>
      <vt:lpstr>Tuned Mass Damper</vt:lpstr>
      <vt:lpstr>Graph of tuned mass damper</vt:lpstr>
      <vt:lpstr>RLC circuit model</vt:lpstr>
      <vt:lpstr>Derivation</vt:lpstr>
      <vt:lpstr>PowerPoint Presentation</vt:lpstr>
      <vt:lpstr>Setting Value</vt:lpstr>
      <vt:lpstr>Without TMD</vt:lpstr>
      <vt:lpstr>With TMD</vt:lpstr>
      <vt:lpstr>Comparison</vt:lpstr>
      <vt:lpstr>PowerPoint Presentation</vt:lpstr>
      <vt:lpstr>i1, i1 – i2, i2</vt:lpstr>
      <vt:lpstr>Conclusion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Escape routing</dc:title>
  <dc:creator>jbg</dc:creator>
  <cp:lastModifiedBy>MINWOO PARK</cp:lastModifiedBy>
  <cp:revision>533</cp:revision>
  <cp:lastPrinted>2024-05-18T16:44:29Z</cp:lastPrinted>
  <dcterms:created xsi:type="dcterms:W3CDTF">2019-06-26T02:24:48Z</dcterms:created>
  <dcterms:modified xsi:type="dcterms:W3CDTF">2026-07-02T06:08:33Z</dcterms:modified>
</cp:coreProperties>
</file>